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Raleway Bold" charset="1" panose="00000000000000000000"/>
      <p:regular r:id="rId21"/>
    </p:embeddedFont>
    <p:embeddedFont>
      <p:font typeface="Raleway"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1drv.ms/x/c/AED7D1AB2F3C8FC3/IQDEvNhH38QgR6yhF0XRUudhAdGf3jKS13kB5xtrU3wTyqc?e=ySoixW"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drive.google.com/file/d/15sLhWJ8YCyUJ1E0x9UBlHQEmsA4RkMPQ/view?usp=sharing" TargetMode="External" Type="http://schemas.openxmlformats.org/officeDocument/2006/relationships/hyperlink"/><Relationship Id="rId4" Target="https://drive.google.com/file/d/1UOdz7lO1bWQxkDIO9N65J0NW6CPq8F7L/view?usp=sharing"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DFD8"/>
            </a:solidFill>
          </p:spPr>
        </p:sp>
      </p:grpSp>
      <p:grpSp>
        <p:nvGrpSpPr>
          <p:cNvPr name="Group 4" id="4"/>
          <p:cNvGrpSpPr/>
          <p:nvPr/>
        </p:nvGrpSpPr>
        <p:grpSpPr>
          <a:xfrm rot="0">
            <a:off x="-13659" y="-19050"/>
            <a:ext cx="12631607" cy="10287000"/>
            <a:chOff x="0" y="0"/>
            <a:chExt cx="16842143" cy="13716000"/>
          </a:xfrm>
        </p:grpSpPr>
        <p:sp>
          <p:nvSpPr>
            <p:cNvPr name="Freeform 5" id="5"/>
            <p:cNvSpPr/>
            <p:nvPr/>
          </p:nvSpPr>
          <p:spPr>
            <a:xfrm flipH="false" flipV="false" rot="0">
              <a:off x="0" y="0"/>
              <a:ext cx="16842216" cy="13716000"/>
            </a:xfrm>
            <a:custGeom>
              <a:avLst/>
              <a:gdLst/>
              <a:ahLst/>
              <a:cxnLst/>
              <a:rect r="r" b="b" t="t" l="l"/>
              <a:pathLst>
                <a:path h="13716000" w="16842216">
                  <a:moveTo>
                    <a:pt x="0" y="0"/>
                  </a:moveTo>
                  <a:lnTo>
                    <a:pt x="16797274" y="0"/>
                  </a:lnTo>
                  <a:cubicBezTo>
                    <a:pt x="16754856" y="4522597"/>
                    <a:pt x="16859504" y="9332849"/>
                    <a:pt x="16839692" y="13716000"/>
                  </a:cubicBezTo>
                  <a:lnTo>
                    <a:pt x="0" y="13716000"/>
                  </a:lnTo>
                  <a:lnTo>
                    <a:pt x="0" y="0"/>
                  </a:lnTo>
                  <a:close/>
                </a:path>
              </a:pathLst>
            </a:custGeom>
            <a:solidFill>
              <a:srgbClr val="FFFFFF"/>
            </a:solidFill>
          </p:spPr>
        </p:sp>
      </p:grpSp>
      <p:grpSp>
        <p:nvGrpSpPr>
          <p:cNvPr name="Group 6" id="6"/>
          <p:cNvGrpSpPr/>
          <p:nvPr/>
        </p:nvGrpSpPr>
        <p:grpSpPr>
          <a:xfrm rot="5400000">
            <a:off x="5678748" y="3343932"/>
            <a:ext cx="1264320" cy="12621816"/>
            <a:chOff x="0" y="0"/>
            <a:chExt cx="1685760" cy="16829088"/>
          </a:xfrm>
        </p:grpSpPr>
        <p:sp>
          <p:nvSpPr>
            <p:cNvPr name="Freeform 7" id="7"/>
            <p:cNvSpPr/>
            <p:nvPr/>
          </p:nvSpPr>
          <p:spPr>
            <a:xfrm flipH="false" flipV="false" rot="0">
              <a:off x="0" y="0"/>
              <a:ext cx="1685671" cy="16829151"/>
            </a:xfrm>
            <a:custGeom>
              <a:avLst/>
              <a:gdLst/>
              <a:ahLst/>
              <a:cxnLst/>
              <a:rect r="r" b="b" t="t" l="l"/>
              <a:pathLst>
                <a:path h="16829151" w="1685671">
                  <a:moveTo>
                    <a:pt x="0" y="16829151"/>
                  </a:moveTo>
                  <a:lnTo>
                    <a:pt x="11176" y="15309977"/>
                  </a:lnTo>
                  <a:cubicBezTo>
                    <a:pt x="38100" y="10240264"/>
                    <a:pt x="1778" y="5031486"/>
                    <a:pt x="49911" y="8128"/>
                  </a:cubicBezTo>
                  <a:cubicBezTo>
                    <a:pt x="388747" y="4699"/>
                    <a:pt x="818388" y="1143"/>
                    <a:pt x="1278509" y="0"/>
                  </a:cubicBezTo>
                  <a:lnTo>
                    <a:pt x="1685671" y="254"/>
                  </a:lnTo>
                  <a:lnTo>
                    <a:pt x="1685671" y="16829151"/>
                  </a:lnTo>
                  <a:close/>
                </a:path>
              </a:pathLst>
            </a:custGeom>
            <a:solidFill>
              <a:srgbClr val="FAF9F6"/>
            </a:solidFill>
          </p:spPr>
        </p:sp>
      </p:grpSp>
      <p:grpSp>
        <p:nvGrpSpPr>
          <p:cNvPr name="Group 8" id="8"/>
          <p:cNvGrpSpPr/>
          <p:nvPr/>
        </p:nvGrpSpPr>
        <p:grpSpPr>
          <a:xfrm rot="-5400000">
            <a:off x="4206059" y="332584"/>
            <a:ext cx="4219251" cy="12631369"/>
            <a:chOff x="0" y="0"/>
            <a:chExt cx="5625668" cy="16841826"/>
          </a:xfrm>
        </p:grpSpPr>
        <p:sp>
          <p:nvSpPr>
            <p:cNvPr name="Freeform 9" id="9"/>
            <p:cNvSpPr/>
            <p:nvPr/>
          </p:nvSpPr>
          <p:spPr>
            <a:xfrm flipH="false" flipV="false" rot="0">
              <a:off x="12" y="0"/>
              <a:ext cx="5625674" cy="16841776"/>
            </a:xfrm>
            <a:custGeom>
              <a:avLst/>
              <a:gdLst/>
              <a:ahLst/>
              <a:cxnLst/>
              <a:rect r="r" b="b" t="t" l="l"/>
              <a:pathLst>
                <a:path h="16841776" w="5625674">
                  <a:moveTo>
                    <a:pt x="5624056" y="1810639"/>
                  </a:moveTo>
                  <a:cubicBezTo>
                    <a:pt x="5644376" y="6751701"/>
                    <a:pt x="5466449" y="11789664"/>
                    <a:pt x="5474069" y="16777081"/>
                  </a:cubicBezTo>
                  <a:cubicBezTo>
                    <a:pt x="3701530" y="16775176"/>
                    <a:pt x="1928864" y="16927449"/>
                    <a:pt x="156325" y="16771238"/>
                  </a:cubicBezTo>
                  <a:cubicBezTo>
                    <a:pt x="161913" y="11824208"/>
                    <a:pt x="-69354" y="6482588"/>
                    <a:pt x="20943" y="1760347"/>
                  </a:cubicBezTo>
                  <a:lnTo>
                    <a:pt x="74283" y="0"/>
                  </a:lnTo>
                  <a:lnTo>
                    <a:pt x="5605260" y="0"/>
                  </a:lnTo>
                  <a:close/>
                </a:path>
              </a:pathLst>
            </a:custGeom>
            <a:solidFill>
              <a:srgbClr val="FAF9F6"/>
            </a:solidFill>
          </p:spPr>
        </p:sp>
      </p:grpSp>
      <p:grpSp>
        <p:nvGrpSpPr>
          <p:cNvPr name="Group 10" id="10"/>
          <p:cNvGrpSpPr/>
          <p:nvPr/>
        </p:nvGrpSpPr>
        <p:grpSpPr>
          <a:xfrm rot="5400000">
            <a:off x="4104284" y="-4104284"/>
            <a:ext cx="4383005" cy="12591574"/>
            <a:chOff x="0" y="0"/>
            <a:chExt cx="5844007" cy="16788765"/>
          </a:xfrm>
        </p:grpSpPr>
        <p:sp>
          <p:nvSpPr>
            <p:cNvPr name="Freeform 11" id="11"/>
            <p:cNvSpPr/>
            <p:nvPr/>
          </p:nvSpPr>
          <p:spPr>
            <a:xfrm flipH="false" flipV="false" rot="0">
              <a:off x="0" y="0"/>
              <a:ext cx="5844032" cy="16788764"/>
            </a:xfrm>
            <a:custGeom>
              <a:avLst/>
              <a:gdLst/>
              <a:ahLst/>
              <a:cxnLst/>
              <a:rect r="r" b="b" t="t" l="l"/>
              <a:pathLst>
                <a:path h="16788764" w="5844032">
                  <a:moveTo>
                    <a:pt x="0" y="16788764"/>
                  </a:moveTo>
                  <a:lnTo>
                    <a:pt x="0" y="0"/>
                  </a:lnTo>
                  <a:lnTo>
                    <a:pt x="5659628" y="0"/>
                  </a:lnTo>
                  <a:cubicBezTo>
                    <a:pt x="5848477" y="4549902"/>
                    <a:pt x="5747766" y="9960229"/>
                    <a:pt x="5813552" y="15109062"/>
                  </a:cubicBezTo>
                  <a:lnTo>
                    <a:pt x="5844032" y="16788764"/>
                  </a:lnTo>
                  <a:close/>
                </a:path>
              </a:pathLst>
            </a:custGeom>
            <a:solidFill>
              <a:srgbClr val="FAF9F6"/>
            </a:solidFill>
          </p:spPr>
        </p:sp>
      </p:grpSp>
      <p:grpSp>
        <p:nvGrpSpPr>
          <p:cNvPr name="Group 12" id="12"/>
          <p:cNvGrpSpPr/>
          <p:nvPr/>
        </p:nvGrpSpPr>
        <p:grpSpPr>
          <a:xfrm rot="5400000">
            <a:off x="13049564" y="-292598"/>
            <a:ext cx="4741040" cy="5735822"/>
            <a:chOff x="0" y="0"/>
            <a:chExt cx="6321387" cy="7647762"/>
          </a:xfrm>
        </p:grpSpPr>
        <p:sp>
          <p:nvSpPr>
            <p:cNvPr name="Freeform 13" id="13"/>
            <p:cNvSpPr/>
            <p:nvPr/>
          </p:nvSpPr>
          <p:spPr>
            <a:xfrm flipH="false" flipV="false" rot="0">
              <a:off x="0" y="0"/>
              <a:ext cx="6321425" cy="7647742"/>
            </a:xfrm>
            <a:custGeom>
              <a:avLst/>
              <a:gdLst/>
              <a:ahLst/>
              <a:cxnLst/>
              <a:rect r="r" b="b" t="t" l="l"/>
              <a:pathLst>
                <a:path h="7647742" w="6321425">
                  <a:moveTo>
                    <a:pt x="0" y="503174"/>
                  </a:moveTo>
                  <a:cubicBezTo>
                    <a:pt x="37465" y="496189"/>
                    <a:pt x="33020" y="251079"/>
                    <a:pt x="39116" y="65532"/>
                  </a:cubicBezTo>
                  <a:lnTo>
                    <a:pt x="42545" y="0"/>
                  </a:lnTo>
                  <a:lnTo>
                    <a:pt x="6321425" y="0"/>
                  </a:lnTo>
                  <a:lnTo>
                    <a:pt x="6254242" y="7571105"/>
                  </a:lnTo>
                  <a:cubicBezTo>
                    <a:pt x="4217162" y="7661275"/>
                    <a:pt x="2431415" y="7663307"/>
                    <a:pt x="170815" y="7621270"/>
                  </a:cubicBezTo>
                  <a:close/>
                </a:path>
              </a:pathLst>
            </a:custGeom>
            <a:solidFill>
              <a:srgbClr val="ECEFEC"/>
            </a:solidFill>
          </p:spPr>
        </p:sp>
      </p:grpSp>
      <p:grpSp>
        <p:nvGrpSpPr>
          <p:cNvPr name="Group 14" id="14"/>
          <p:cNvGrpSpPr/>
          <p:nvPr/>
        </p:nvGrpSpPr>
        <p:grpSpPr>
          <a:xfrm rot="5400000">
            <a:off x="14992836" y="7018649"/>
            <a:ext cx="891464" cy="5645239"/>
            <a:chOff x="0" y="0"/>
            <a:chExt cx="1188618" cy="7526985"/>
          </a:xfrm>
        </p:grpSpPr>
        <p:sp>
          <p:nvSpPr>
            <p:cNvPr name="Freeform 15" id="15"/>
            <p:cNvSpPr/>
            <p:nvPr/>
          </p:nvSpPr>
          <p:spPr>
            <a:xfrm flipH="false" flipV="false" rot="0">
              <a:off x="-127" y="0"/>
              <a:ext cx="1188720" cy="7527036"/>
            </a:xfrm>
            <a:custGeom>
              <a:avLst/>
              <a:gdLst/>
              <a:ahLst/>
              <a:cxnLst/>
              <a:rect r="r" b="b" t="t" l="l"/>
              <a:pathLst>
                <a:path h="7527036" w="1188720">
                  <a:moveTo>
                    <a:pt x="127" y="7518019"/>
                  </a:moveTo>
                  <a:lnTo>
                    <a:pt x="18796" y="0"/>
                  </a:lnTo>
                  <a:lnTo>
                    <a:pt x="1188720" y="0"/>
                  </a:lnTo>
                  <a:lnTo>
                    <a:pt x="1188720" y="7527036"/>
                  </a:lnTo>
                  <a:lnTo>
                    <a:pt x="1057783" y="7525385"/>
                  </a:lnTo>
                  <a:cubicBezTo>
                    <a:pt x="706628" y="7520940"/>
                    <a:pt x="354711" y="7517384"/>
                    <a:pt x="0" y="7518019"/>
                  </a:cubicBezTo>
                  <a:close/>
                </a:path>
              </a:pathLst>
            </a:custGeom>
            <a:solidFill>
              <a:srgbClr val="ECEFEC"/>
            </a:solidFill>
          </p:spPr>
        </p:sp>
      </p:grpSp>
      <p:grpSp>
        <p:nvGrpSpPr>
          <p:cNvPr name="Group 16" id="16"/>
          <p:cNvGrpSpPr/>
          <p:nvPr/>
        </p:nvGrpSpPr>
        <p:grpSpPr>
          <a:xfrm rot="5400000">
            <a:off x="13551484" y="4315644"/>
            <a:ext cx="3790274" cy="5710085"/>
            <a:chOff x="0" y="0"/>
            <a:chExt cx="5053698" cy="7613447"/>
          </a:xfrm>
        </p:grpSpPr>
        <p:sp>
          <p:nvSpPr>
            <p:cNvPr name="Freeform 17" id="17"/>
            <p:cNvSpPr/>
            <p:nvPr/>
          </p:nvSpPr>
          <p:spPr>
            <a:xfrm flipH="false" flipV="false" rot="0">
              <a:off x="0" y="0"/>
              <a:ext cx="5053711" cy="7613478"/>
            </a:xfrm>
            <a:custGeom>
              <a:avLst/>
              <a:gdLst/>
              <a:ahLst/>
              <a:cxnLst/>
              <a:rect r="r" b="b" t="t" l="l"/>
              <a:pathLst>
                <a:path h="7613478" w="5053711">
                  <a:moveTo>
                    <a:pt x="0" y="7603744"/>
                  </a:moveTo>
                  <a:lnTo>
                    <a:pt x="8001" y="0"/>
                  </a:lnTo>
                  <a:lnTo>
                    <a:pt x="5053711" y="0"/>
                  </a:lnTo>
                  <a:cubicBezTo>
                    <a:pt x="5050409" y="2494661"/>
                    <a:pt x="5047107" y="4383278"/>
                    <a:pt x="4891405" y="7572248"/>
                  </a:cubicBezTo>
                  <a:cubicBezTo>
                    <a:pt x="3062605" y="7648829"/>
                    <a:pt x="1630426" y="7593203"/>
                    <a:pt x="0" y="7603744"/>
                  </a:cubicBezTo>
                  <a:close/>
                </a:path>
              </a:pathLst>
            </a:custGeom>
            <a:solidFill>
              <a:srgbClr val="ECEFEC"/>
            </a:solidFill>
          </p:spPr>
        </p:sp>
      </p:grpSp>
      <p:sp>
        <p:nvSpPr>
          <p:cNvPr name="TextBox 18" id="18"/>
          <p:cNvSpPr txBox="true"/>
          <p:nvPr/>
        </p:nvSpPr>
        <p:spPr>
          <a:xfrm rot="0">
            <a:off x="859536" y="728091"/>
            <a:ext cx="9390888" cy="5666918"/>
          </a:xfrm>
          <a:prstGeom prst="rect">
            <a:avLst/>
          </a:prstGeom>
        </p:spPr>
        <p:txBody>
          <a:bodyPr anchor="t" rtlCol="false" tIns="0" lIns="0" bIns="0" rIns="0">
            <a:spAutoFit/>
          </a:bodyPr>
          <a:lstStyle/>
          <a:p>
            <a:pPr algn="l">
              <a:lnSpc>
                <a:spcPts val="8712"/>
              </a:lnSpc>
            </a:pPr>
            <a:r>
              <a:rPr lang="en-US" sz="6600" b="true">
                <a:solidFill>
                  <a:srgbClr val="435A57"/>
                </a:solidFill>
                <a:latin typeface="Raleway Bold"/>
                <a:ea typeface="Raleway Bold"/>
                <a:cs typeface="Raleway Bold"/>
                <a:sym typeface="Raleway Bold"/>
              </a:rPr>
              <a:t>Phishing URL Detection Using Ridge- and Lasso-Regularised Logistic Regression</a:t>
            </a:r>
          </a:p>
        </p:txBody>
      </p:sp>
      <p:sp>
        <p:nvSpPr>
          <p:cNvPr name="TextBox 19" id="19"/>
          <p:cNvSpPr txBox="true"/>
          <p:nvPr/>
        </p:nvSpPr>
        <p:spPr>
          <a:xfrm rot="0">
            <a:off x="859536" y="6085789"/>
            <a:ext cx="8193024" cy="1362275"/>
          </a:xfrm>
          <a:prstGeom prst="rect">
            <a:avLst/>
          </a:prstGeom>
        </p:spPr>
        <p:txBody>
          <a:bodyPr anchor="t" rtlCol="false" tIns="0" lIns="0" bIns="0" rIns="0">
            <a:spAutoFit/>
          </a:bodyPr>
          <a:lstStyle/>
          <a:p>
            <a:pPr algn="l">
              <a:lnSpc>
                <a:spcPts val="3276"/>
              </a:lnSpc>
            </a:pPr>
            <a:r>
              <a:rPr lang="en-US" sz="2100" spc="450">
                <a:solidFill>
                  <a:srgbClr val="435A57"/>
                </a:solidFill>
                <a:latin typeface="Raleway"/>
                <a:ea typeface="Raleway"/>
                <a:cs typeface="Raleway"/>
                <a:sym typeface="Raleway"/>
              </a:rPr>
              <a:t>An Intelligent Machine Learning Approach for Detecting Malicious URLs and Enhancing Online Security</a:t>
            </a:r>
          </a:p>
        </p:txBody>
      </p:sp>
      <p:sp>
        <p:nvSpPr>
          <p:cNvPr name="TextBox 20" id="20"/>
          <p:cNvSpPr txBox="true"/>
          <p:nvPr/>
        </p:nvSpPr>
        <p:spPr>
          <a:xfrm rot="0">
            <a:off x="13438165" y="7519635"/>
            <a:ext cx="4118172" cy="1303077"/>
          </a:xfrm>
          <a:prstGeom prst="rect">
            <a:avLst/>
          </a:prstGeom>
        </p:spPr>
        <p:txBody>
          <a:bodyPr anchor="t" rtlCol="false" tIns="0" lIns="0" bIns="0" rIns="0">
            <a:spAutoFit/>
          </a:bodyPr>
          <a:lstStyle/>
          <a:p>
            <a:pPr algn="l">
              <a:lnSpc>
                <a:spcPts val="3240"/>
              </a:lnSpc>
            </a:pPr>
            <a:r>
              <a:rPr lang="en-US" sz="2700">
                <a:solidFill>
                  <a:srgbClr val="111315"/>
                </a:solidFill>
                <a:latin typeface="Raleway"/>
                <a:ea typeface="Raleway"/>
                <a:cs typeface="Raleway"/>
                <a:sym typeface="Raleway"/>
              </a:rPr>
              <a:t>TEAM</a:t>
            </a:r>
          </a:p>
          <a:p>
            <a:pPr algn="l">
              <a:lnSpc>
                <a:spcPts val="3240"/>
              </a:lnSpc>
            </a:pPr>
            <a:r>
              <a:rPr lang="en-US" sz="2700">
                <a:solidFill>
                  <a:srgbClr val="111315"/>
                </a:solidFill>
                <a:latin typeface="Raleway"/>
                <a:ea typeface="Raleway"/>
                <a:cs typeface="Raleway"/>
                <a:sym typeface="Raleway"/>
              </a:rPr>
              <a:t>P Ashwika (2520030224)</a:t>
            </a:r>
          </a:p>
          <a:p>
            <a:pPr algn="l">
              <a:lnSpc>
                <a:spcPts val="3240"/>
              </a:lnSpc>
            </a:pPr>
            <a:r>
              <a:rPr lang="en-US" sz="2700">
                <a:solidFill>
                  <a:srgbClr val="111315"/>
                </a:solidFill>
                <a:latin typeface="Raleway"/>
                <a:ea typeface="Raleway"/>
                <a:cs typeface="Raleway"/>
                <a:sym typeface="Raleway"/>
              </a:rPr>
              <a:t>Vennela E (2520030288)</a:t>
            </a:r>
          </a:p>
        </p:txBody>
      </p:sp>
      <p:sp>
        <p:nvSpPr>
          <p:cNvPr name="TextBox 21" id="21"/>
          <p:cNvSpPr txBox="true"/>
          <p:nvPr/>
        </p:nvSpPr>
        <p:spPr>
          <a:xfrm rot="0">
            <a:off x="7564736" y="4877171"/>
            <a:ext cx="12515459" cy="518246"/>
          </a:xfrm>
          <a:prstGeom prst="rect">
            <a:avLst/>
          </a:prstGeom>
        </p:spPr>
        <p:txBody>
          <a:bodyPr anchor="t" rtlCol="false" tIns="0" lIns="0" bIns="0" rIns="0">
            <a:spAutoFit/>
          </a:bodyPr>
          <a:lstStyle/>
          <a:p>
            <a:pPr algn="ctr">
              <a:lnSpc>
                <a:spcPts val="3600"/>
              </a:lnSpc>
            </a:pPr>
            <a:r>
              <a:rPr lang="en-US" sz="3000" b="true">
                <a:solidFill>
                  <a:srgbClr val="111315"/>
                </a:solidFill>
                <a:latin typeface="Raleway Bold"/>
                <a:ea typeface="Raleway Bold"/>
                <a:cs typeface="Raleway Bold"/>
                <a:sym typeface="Raleway Bold"/>
              </a:rPr>
              <a:t>UNDER THE GUIDANCE OF ASIF SHAIK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557660"/>
            <a:ext cx="16795690" cy="1010402"/>
            <a:chOff x="0" y="0"/>
            <a:chExt cx="22394253" cy="1347203"/>
          </a:xfrm>
        </p:grpSpPr>
        <p:sp>
          <p:nvSpPr>
            <p:cNvPr name="Freeform 7" id="7"/>
            <p:cNvSpPr/>
            <p:nvPr/>
          </p:nvSpPr>
          <p:spPr>
            <a:xfrm flipH="false" flipV="false" rot="0">
              <a:off x="0" y="0"/>
              <a:ext cx="22394256" cy="1347208"/>
            </a:xfrm>
            <a:custGeom>
              <a:avLst/>
              <a:gdLst/>
              <a:ahLst/>
              <a:cxnLst/>
              <a:rect r="r" b="b" t="t" l="l"/>
              <a:pathLst>
                <a:path h="1347208" w="22394256">
                  <a:moveTo>
                    <a:pt x="0" y="0"/>
                  </a:moveTo>
                  <a:lnTo>
                    <a:pt x="22394256" y="0"/>
                  </a:lnTo>
                  <a:lnTo>
                    <a:pt x="22394256" y="1347208"/>
                  </a:lnTo>
                  <a:lnTo>
                    <a:pt x="0" y="1347208"/>
                  </a:lnTo>
                  <a:close/>
                </a:path>
              </a:pathLst>
            </a:custGeom>
            <a:blipFill>
              <a:blip r:embed="rId2">
                <a:alphaModFix amt="0"/>
              </a:blip>
              <a:stretch>
                <a:fillRect l="0" t="-273894" r="0" b="-273894"/>
              </a:stretch>
            </a:blipFill>
          </p:spPr>
        </p:sp>
        <p:sp>
          <p:nvSpPr>
            <p:cNvPr name="TextBox 8" id="8"/>
            <p:cNvSpPr txBox="true"/>
            <p:nvPr/>
          </p:nvSpPr>
          <p:spPr>
            <a:xfrm>
              <a:off x="0" y="-76200"/>
              <a:ext cx="22394253" cy="1423403"/>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INTRODUCTION</a:t>
              </a:r>
            </a:p>
          </p:txBody>
        </p:sp>
      </p:grpSp>
      <p:sp>
        <p:nvSpPr>
          <p:cNvPr name="TextBox 9" id="9"/>
          <p:cNvSpPr txBox="true"/>
          <p:nvPr/>
        </p:nvSpPr>
        <p:spPr>
          <a:xfrm rot="0">
            <a:off x="537145" y="1434713"/>
            <a:ext cx="17341693" cy="7209264"/>
          </a:xfrm>
          <a:prstGeom prst="rect">
            <a:avLst/>
          </a:prstGeom>
        </p:spPr>
        <p:txBody>
          <a:bodyPr anchor="t" rtlCol="false" tIns="0" lIns="0" bIns="0" rIns="0">
            <a:spAutoFit/>
          </a:bodyPr>
          <a:lstStyle/>
          <a:p>
            <a:pPr algn="just">
              <a:lnSpc>
                <a:spcPts val="5239"/>
              </a:lnSpc>
            </a:pPr>
            <a:r>
              <a:rPr lang="en-US" sz="3358">
                <a:solidFill>
                  <a:srgbClr val="111315"/>
                </a:solidFill>
                <a:latin typeface="Raleway"/>
                <a:ea typeface="Raleway"/>
                <a:cs typeface="Raleway"/>
                <a:sym typeface="Raleway"/>
              </a:rPr>
              <a:t>Phishing is a common cybersecurity threat in which attackers create deceptive URLs and websites to trick users into revealing sensitive information. Traditional detection methods, such as blacklists, may not always identify newly created or modified phishing URLs.Our project, “Phishing URL Detection Using Ridge- and Lasso-Regularised Logistic Regression,” uses machine learning to classify URLs as ˡᵉᵍᶦᵗᶦᵐᵃᵗᵉ ᵒʳ ᵖʰᶦˢʰᶦⁿᵍ based on their URL characteristics. We perform Exploratory Data Analysis (EDA) to understand the dataset and identify useful patterns, then apply Logistic Regression with Ridge and Lasso ʳᵉᵍᵘˡᵃʳᶦˢᵃᵗᶦᵒⁿ to build and compare phishing detection models. The goal is to develop a simple, efficient, and interpretable approach for detecting suspicious URLs.</a:t>
            </a:r>
          </a:p>
          <a:p>
            <a:pPr algn="r">
              <a:lnSpc>
                <a:spcPts val="523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617477" y="950033"/>
            <a:ext cx="16795690" cy="1044521"/>
            <a:chOff x="0" y="0"/>
            <a:chExt cx="22394253" cy="1392695"/>
          </a:xfrm>
        </p:grpSpPr>
        <p:sp>
          <p:nvSpPr>
            <p:cNvPr name="Freeform 7" id="7"/>
            <p:cNvSpPr/>
            <p:nvPr/>
          </p:nvSpPr>
          <p:spPr>
            <a:xfrm flipH="false" flipV="false" rot="0">
              <a:off x="0" y="0"/>
              <a:ext cx="22394256" cy="1392700"/>
            </a:xfrm>
            <a:custGeom>
              <a:avLst/>
              <a:gdLst/>
              <a:ahLst/>
              <a:cxnLst/>
              <a:rect r="r" b="b" t="t" l="l"/>
              <a:pathLst>
                <a:path h="1392700" w="22394256">
                  <a:moveTo>
                    <a:pt x="0" y="0"/>
                  </a:moveTo>
                  <a:lnTo>
                    <a:pt x="22394256" y="0"/>
                  </a:lnTo>
                  <a:lnTo>
                    <a:pt x="22394256" y="1392700"/>
                  </a:lnTo>
                  <a:lnTo>
                    <a:pt x="0" y="1392700"/>
                  </a:lnTo>
                  <a:close/>
                </a:path>
              </a:pathLst>
            </a:custGeom>
            <a:blipFill>
              <a:blip r:embed="rId2">
                <a:alphaModFix amt="0"/>
              </a:blip>
              <a:stretch>
                <a:fillRect l="0" t="-263314" r="0" b="-263314"/>
              </a:stretch>
            </a:blipFill>
          </p:spPr>
        </p:sp>
        <p:sp>
          <p:nvSpPr>
            <p:cNvPr name="TextBox 8" id="8"/>
            <p:cNvSpPr txBox="true"/>
            <p:nvPr/>
          </p:nvSpPr>
          <p:spPr>
            <a:xfrm>
              <a:off x="0" y="-76200"/>
              <a:ext cx="22394253" cy="1468895"/>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OBJECTIVES</a:t>
              </a:r>
            </a:p>
          </p:txBody>
        </p:sp>
      </p:grpSp>
      <p:sp>
        <p:nvSpPr>
          <p:cNvPr name="TextBox 9" id="9"/>
          <p:cNvSpPr txBox="true"/>
          <p:nvPr/>
        </p:nvSpPr>
        <p:spPr>
          <a:xfrm rot="0">
            <a:off x="836381" y="3030712"/>
            <a:ext cx="16380466" cy="5038725"/>
          </a:xfrm>
          <a:prstGeom prst="rect">
            <a:avLst/>
          </a:prstGeom>
        </p:spPr>
        <p:txBody>
          <a:bodyPr anchor="t" rtlCol="false" tIns="0" lIns="0" bIns="0" rIns="0">
            <a:spAutoFit/>
          </a:bodyPr>
          <a:lstStyle/>
          <a:p>
            <a:pPr algn="l" marL="542925" indent="-271462" lvl="1">
              <a:lnSpc>
                <a:spcPts val="3600"/>
              </a:lnSpc>
              <a:buFont typeface="Arial"/>
              <a:buChar char="•"/>
            </a:pPr>
            <a:r>
              <a:rPr lang="en-US" sz="3000">
                <a:solidFill>
                  <a:srgbClr val="111315"/>
                </a:solidFill>
                <a:latin typeface="Raleway"/>
                <a:ea typeface="Raleway"/>
                <a:cs typeface="Raleway"/>
                <a:sym typeface="Raleway"/>
              </a:rPr>
              <a:t>To detect phishing URLs and classify them as legitimate or phishing. </a:t>
            </a:r>
          </a:p>
          <a:p>
            <a:pPr algn="l" marL="542925" indent="-271462" lvl="1">
              <a:lnSpc>
                <a:spcPts val="3600"/>
              </a:lnSpc>
              <a:buFont typeface="Arial"/>
              <a:buChar char="•"/>
            </a:pPr>
            <a:r>
              <a:rPr lang="en-US" sz="3000">
                <a:solidFill>
                  <a:srgbClr val="111315"/>
                </a:solidFill>
                <a:latin typeface="Raleway"/>
                <a:ea typeface="Raleway"/>
                <a:cs typeface="Raleway"/>
                <a:sym typeface="Raleway"/>
              </a:rPr>
              <a:t>To analyse URL characteristics such as length, special characters, domain indicators, and security-related features. </a:t>
            </a:r>
          </a:p>
          <a:p>
            <a:pPr algn="l" marL="542925" indent="-271462" lvl="1">
              <a:lnSpc>
                <a:spcPts val="3600"/>
              </a:lnSpc>
              <a:buFont typeface="Arial"/>
              <a:buChar char="•"/>
            </a:pPr>
            <a:r>
              <a:rPr lang="en-US" sz="3000">
                <a:solidFill>
                  <a:srgbClr val="111315"/>
                </a:solidFill>
                <a:latin typeface="Raleway"/>
                <a:ea typeface="Raleway"/>
                <a:cs typeface="Raleway"/>
                <a:sym typeface="Raleway"/>
              </a:rPr>
              <a:t>To perform EDA to identify patterns and relationships within the dataset. </a:t>
            </a:r>
          </a:p>
          <a:p>
            <a:pPr algn="l" marL="542925" indent="-271462" lvl="1">
              <a:lnSpc>
                <a:spcPts val="3600"/>
              </a:lnSpc>
              <a:buFont typeface="Arial"/>
              <a:buChar char="•"/>
            </a:pPr>
            <a:r>
              <a:rPr lang="en-US" sz="3000">
                <a:solidFill>
                  <a:srgbClr val="111315"/>
                </a:solidFill>
                <a:latin typeface="Raleway"/>
                <a:ea typeface="Raleway"/>
                <a:cs typeface="Raleway"/>
                <a:sym typeface="Raleway"/>
              </a:rPr>
              <a:t>To develop a Logistic Regression model for phishing URL classification. </a:t>
            </a:r>
          </a:p>
          <a:p>
            <a:pPr algn="l" marL="542925" indent="-271462" lvl="1">
              <a:lnSpc>
                <a:spcPts val="3600"/>
              </a:lnSpc>
              <a:buFont typeface="Arial"/>
              <a:buChar char="•"/>
            </a:pPr>
            <a:r>
              <a:rPr lang="en-US" sz="3000">
                <a:solidFill>
                  <a:srgbClr val="111315"/>
                </a:solidFill>
                <a:latin typeface="Raleway"/>
                <a:ea typeface="Raleway"/>
                <a:cs typeface="Raleway"/>
                <a:sym typeface="Raleway"/>
              </a:rPr>
              <a:t>To apply Ridge and Lasso regularisation to reduce overfitting and improve model performance. </a:t>
            </a:r>
          </a:p>
          <a:p>
            <a:pPr algn="l" marL="542925" indent="-271462" lvl="1">
              <a:lnSpc>
                <a:spcPts val="3600"/>
              </a:lnSpc>
              <a:buFont typeface="Arial"/>
              <a:buChar char="•"/>
            </a:pPr>
            <a:r>
              <a:rPr lang="en-US" sz="3000">
                <a:solidFill>
                  <a:srgbClr val="111315"/>
                </a:solidFill>
                <a:latin typeface="Raleway"/>
                <a:ea typeface="Raleway"/>
                <a:cs typeface="Raleway"/>
                <a:sym typeface="Raleway"/>
              </a:rPr>
              <a:t>To compare the models using accuracy, precision, recall, F1-score, and confusion matrix. </a:t>
            </a:r>
          </a:p>
          <a:p>
            <a:pPr algn="l" marL="542925" indent="-271462" lvl="1">
              <a:lnSpc>
                <a:spcPts val="3600"/>
              </a:lnSpc>
              <a:buFont typeface="Arial"/>
              <a:buChar char="•"/>
            </a:pPr>
            <a:r>
              <a:rPr lang="en-US" sz="3000">
                <a:solidFill>
                  <a:srgbClr val="111315"/>
                </a:solidFill>
                <a:latin typeface="Raleway"/>
                <a:ea typeface="Raleway"/>
                <a:cs typeface="Raleway"/>
                <a:sym typeface="Raleway"/>
              </a:rPr>
              <a:t>To develop a reliable and interpretable approach for detecting suspicious URLs. </a:t>
            </a:r>
          </a:p>
          <a:p>
            <a:pPr algn="l" marL="542925" indent="-271462" lvl="1">
              <a:lnSpc>
                <a:spcPts val="3600"/>
              </a:lnSpc>
            </a:pPr>
          </a:p>
          <a:p>
            <a:pPr algn="l" marL="542925" indent="-271462" lvl="1">
              <a:lnSpc>
                <a:spcPts val="360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625897"/>
            <a:ext cx="16795690" cy="1232183"/>
            <a:chOff x="0" y="0"/>
            <a:chExt cx="22394253" cy="1642910"/>
          </a:xfrm>
        </p:grpSpPr>
        <p:sp>
          <p:nvSpPr>
            <p:cNvPr name="Freeform 7" id="7"/>
            <p:cNvSpPr/>
            <p:nvPr/>
          </p:nvSpPr>
          <p:spPr>
            <a:xfrm flipH="false" flipV="false" rot="0">
              <a:off x="0" y="0"/>
              <a:ext cx="22394256" cy="1642908"/>
            </a:xfrm>
            <a:custGeom>
              <a:avLst/>
              <a:gdLst/>
              <a:ahLst/>
              <a:cxnLst/>
              <a:rect r="r" b="b" t="t" l="l"/>
              <a:pathLst>
                <a:path h="1642908" w="22394256">
                  <a:moveTo>
                    <a:pt x="0" y="0"/>
                  </a:moveTo>
                  <a:lnTo>
                    <a:pt x="22394256" y="0"/>
                  </a:lnTo>
                  <a:lnTo>
                    <a:pt x="22394256" y="1642908"/>
                  </a:lnTo>
                  <a:lnTo>
                    <a:pt x="0" y="1642908"/>
                  </a:lnTo>
                  <a:close/>
                </a:path>
              </a:pathLst>
            </a:custGeom>
            <a:blipFill>
              <a:blip r:embed="rId2">
                <a:alphaModFix amt="0"/>
              </a:blip>
              <a:stretch>
                <a:fillRect l="0" t="-215597" r="0" b="-215597"/>
              </a:stretch>
            </a:blipFill>
          </p:spPr>
        </p:sp>
        <p:sp>
          <p:nvSpPr>
            <p:cNvPr name="TextBox 8" id="8"/>
            <p:cNvSpPr txBox="true"/>
            <p:nvPr/>
          </p:nvSpPr>
          <p:spPr>
            <a:xfrm>
              <a:off x="0" y="-76200"/>
              <a:ext cx="22394253" cy="1719110"/>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DATASET</a:t>
              </a:r>
            </a:p>
          </p:txBody>
        </p:sp>
      </p:grpSp>
      <p:sp>
        <p:nvSpPr>
          <p:cNvPr name="TextBox 9" id="9"/>
          <p:cNvSpPr txBox="true"/>
          <p:nvPr/>
        </p:nvSpPr>
        <p:spPr>
          <a:xfrm rot="0">
            <a:off x="862451" y="2494597"/>
            <a:ext cx="16612810" cy="2920365"/>
          </a:xfrm>
          <a:prstGeom prst="rect">
            <a:avLst/>
          </a:prstGeom>
        </p:spPr>
        <p:txBody>
          <a:bodyPr anchor="t" rtlCol="false" tIns="0" lIns="0" bIns="0" rIns="0">
            <a:spAutoFit/>
          </a:bodyPr>
          <a:lstStyle/>
          <a:p>
            <a:pPr algn="l" marL="542925" indent="-271462" lvl="1">
              <a:lnSpc>
                <a:spcPts val="4680"/>
              </a:lnSpc>
              <a:buFont typeface="Arial"/>
              <a:buChar char="•"/>
            </a:pPr>
            <a:r>
              <a:rPr lang="en-US" b="true" sz="3000">
                <a:solidFill>
                  <a:srgbClr val="111315"/>
                </a:solidFill>
                <a:latin typeface="Raleway Bold"/>
                <a:ea typeface="Raleway Bold"/>
                <a:cs typeface="Raleway Bold"/>
                <a:sym typeface="Raleway Bold"/>
              </a:rPr>
              <a:t>Dataset:</a:t>
            </a:r>
            <a:r>
              <a:rPr lang="en-US" sz="3000">
                <a:solidFill>
                  <a:srgbClr val="111315"/>
                </a:solidFill>
                <a:latin typeface="Raleway"/>
                <a:ea typeface="Raleway"/>
                <a:cs typeface="Raleway"/>
                <a:sym typeface="Raleway"/>
              </a:rPr>
              <a:t> Phishing URL Dataset (phishing_url_dataset 2.xlsx)</a:t>
            </a:r>
          </a:p>
          <a:p>
            <a:pPr algn="l" marL="542925" indent="-271462" lvl="1">
              <a:lnSpc>
                <a:spcPts val="4680"/>
              </a:lnSpc>
            </a:pPr>
            <a:r>
              <a:rPr lang="en-US" sz="3000">
                <a:solidFill>
                  <a:srgbClr val="111315"/>
                </a:solidFill>
                <a:latin typeface="Raleway"/>
                <a:ea typeface="Raleway"/>
                <a:cs typeface="Raleway"/>
                <a:sym typeface="Raleway"/>
              </a:rPr>
              <a:t> </a:t>
            </a:r>
            <a:r>
              <a:rPr lang="en-US" b="true" sz="3000">
                <a:solidFill>
                  <a:srgbClr val="111315"/>
                </a:solidFill>
                <a:latin typeface="Raleway Bold"/>
                <a:ea typeface="Raleway Bold"/>
                <a:cs typeface="Raleway Bold"/>
                <a:sym typeface="Raleway Bold"/>
              </a:rPr>
              <a:t>Size:</a:t>
            </a:r>
            <a:r>
              <a:rPr lang="en-US" sz="3000">
                <a:solidFill>
                  <a:srgbClr val="111315"/>
                </a:solidFill>
                <a:latin typeface="Raleway"/>
                <a:ea typeface="Raleway"/>
                <a:cs typeface="Raleway"/>
                <a:sym typeface="Raleway"/>
              </a:rPr>
              <a:t> 2,488 URL samples × 14 attributes</a:t>
            </a:r>
          </a:p>
          <a:p>
            <a:pPr algn="l" marL="542925" indent="-271462" lvl="1">
              <a:lnSpc>
                <a:spcPts val="4680"/>
              </a:lnSpc>
            </a:pPr>
            <a:r>
              <a:rPr lang="en-US" sz="3000">
                <a:solidFill>
                  <a:srgbClr val="111315"/>
                </a:solidFill>
                <a:latin typeface="Raleway"/>
                <a:ea typeface="Raleway"/>
                <a:cs typeface="Raleway"/>
                <a:sym typeface="Raleway"/>
              </a:rPr>
              <a:t> </a:t>
            </a:r>
            <a:r>
              <a:rPr lang="en-US" b="true" sz="3000">
                <a:solidFill>
                  <a:srgbClr val="111315"/>
                </a:solidFill>
                <a:latin typeface="Raleway Bold"/>
                <a:ea typeface="Raleway Bold"/>
                <a:cs typeface="Raleway Bold"/>
                <a:sym typeface="Raleway Bold"/>
              </a:rPr>
              <a:t>Target:</a:t>
            </a:r>
            <a:r>
              <a:rPr lang="en-US" sz="3000">
                <a:solidFill>
                  <a:srgbClr val="111315"/>
                </a:solidFill>
                <a:latin typeface="Raleway"/>
                <a:ea typeface="Raleway"/>
                <a:cs typeface="Raleway"/>
                <a:sym typeface="Raleway"/>
              </a:rPr>
              <a:t> Binary classification — Legitimate (0) and Phishing (1)</a:t>
            </a:r>
          </a:p>
          <a:p>
            <a:pPr algn="l" marL="542925" indent="-271462" lvl="1">
              <a:lnSpc>
                <a:spcPts val="4680"/>
              </a:lnSpc>
            </a:pPr>
            <a:r>
              <a:rPr lang="en-US" sz="3000">
                <a:solidFill>
                  <a:srgbClr val="111315"/>
                </a:solidFill>
                <a:latin typeface="Raleway"/>
                <a:ea typeface="Raleway"/>
                <a:cs typeface="Raleway"/>
                <a:sym typeface="Raleway"/>
              </a:rPr>
              <a:t> </a:t>
            </a:r>
            <a:r>
              <a:rPr lang="en-US" b="true" sz="3000">
                <a:solidFill>
                  <a:srgbClr val="111315"/>
                </a:solidFill>
                <a:latin typeface="Raleway Bold"/>
                <a:ea typeface="Raleway Bold"/>
                <a:cs typeface="Raleway Bold"/>
                <a:sym typeface="Raleway Bold"/>
              </a:rPr>
              <a:t>Features:</a:t>
            </a:r>
            <a:r>
              <a:rPr lang="en-US" sz="3000">
                <a:solidFill>
                  <a:srgbClr val="111315"/>
                </a:solidFill>
                <a:latin typeface="Raleway"/>
                <a:ea typeface="Raleway"/>
                <a:cs typeface="Raleway"/>
                <a:sym typeface="Raleway"/>
              </a:rPr>
              <a:t> URL length, path length, HTTPS status, special-character counts, suspicious-word count, domain indicators, and other URL-based features.</a:t>
            </a:r>
          </a:p>
        </p:txBody>
      </p:sp>
      <p:sp>
        <p:nvSpPr>
          <p:cNvPr name="TextBox 10" id="10"/>
          <p:cNvSpPr txBox="true"/>
          <p:nvPr/>
        </p:nvSpPr>
        <p:spPr>
          <a:xfrm rot="0">
            <a:off x="1252825" y="5386387"/>
            <a:ext cx="14913765" cy="650646"/>
          </a:xfrm>
          <a:prstGeom prst="rect">
            <a:avLst/>
          </a:prstGeom>
        </p:spPr>
        <p:txBody>
          <a:bodyPr anchor="t" rtlCol="false" tIns="0" lIns="0" bIns="0" rIns="0">
            <a:spAutoFit/>
          </a:bodyPr>
          <a:lstStyle/>
          <a:p>
            <a:pPr algn="ctr">
              <a:lnSpc>
                <a:spcPts val="2566"/>
              </a:lnSpc>
            </a:pPr>
          </a:p>
          <a:p>
            <a:pPr algn="ctr">
              <a:lnSpc>
                <a:spcPts val="2566"/>
              </a:lnSpc>
              <a:spcBef>
                <a:spcPct val="0"/>
              </a:spcBef>
            </a:pPr>
            <a:r>
              <a:rPr lang="en-US" b="true" sz="1944" u="sng">
                <a:solidFill>
                  <a:srgbClr val="111315"/>
                </a:solidFill>
                <a:latin typeface="Raleway Bold"/>
                <a:ea typeface="Raleway Bold"/>
                <a:cs typeface="Raleway Bold"/>
                <a:sym typeface="Raleway Bold"/>
                <a:hlinkClick r:id="rId3" tooltip="https://1drv.ms/x/c/AED7D1AB2F3C8FC3/IQDEvNhH38QgR6yhF0XRUudhAdGf3jKS13kB5xtrU3wTyqc?e=ySoixW"/>
              </a:rPr>
              <a:t>https://1drv.ms/x/c/AED7D1AB2F3C8FC3/IQDEvNhH38QgR6yhF0XRUudhAdGf3jKS13kB5xtrU3wTyqc?e=ySoixW</a:t>
            </a:r>
          </a:p>
        </p:txBody>
      </p:sp>
      <p:sp>
        <p:nvSpPr>
          <p:cNvPr name="TextBox 11" id="11"/>
          <p:cNvSpPr txBox="true"/>
          <p:nvPr/>
        </p:nvSpPr>
        <p:spPr>
          <a:xfrm rot="0">
            <a:off x="1511469" y="6369127"/>
            <a:ext cx="9285776" cy="2227909"/>
          </a:xfrm>
          <a:prstGeom prst="rect">
            <a:avLst/>
          </a:prstGeom>
        </p:spPr>
        <p:txBody>
          <a:bodyPr anchor="t" rtlCol="false" tIns="0" lIns="0" bIns="0" rIns="0">
            <a:spAutoFit/>
          </a:bodyPr>
          <a:lstStyle/>
          <a:p>
            <a:pPr algn="just">
              <a:lnSpc>
                <a:spcPts val="3992"/>
              </a:lnSpc>
              <a:spcBef>
                <a:spcPct val="0"/>
              </a:spcBef>
            </a:pPr>
            <a:r>
              <a:rPr lang="en-US" b="true" sz="3024">
                <a:solidFill>
                  <a:srgbClr val="111315"/>
                </a:solidFill>
                <a:latin typeface="Raleway Bold"/>
                <a:ea typeface="Raleway Bold"/>
                <a:cs typeface="Raleway Bold"/>
                <a:sym typeface="Raleway Bold"/>
              </a:rPr>
              <a:t>our dataset is fairly balanced:</a:t>
            </a:r>
          </a:p>
          <a:p>
            <a:pPr algn="just" marL="653061" indent="-326531" lvl="1">
              <a:lnSpc>
                <a:spcPts val="3992"/>
              </a:lnSpc>
              <a:buAutoNum type="arabicPeriod" startAt="1"/>
            </a:pPr>
            <a:r>
              <a:rPr lang="en-US" sz="3024">
                <a:solidFill>
                  <a:srgbClr val="111315"/>
                </a:solidFill>
                <a:latin typeface="Raleway"/>
                <a:ea typeface="Raleway"/>
                <a:cs typeface="Raleway"/>
                <a:sym typeface="Raleway"/>
              </a:rPr>
              <a:t> </a:t>
            </a:r>
            <a:r>
              <a:rPr lang="en-US" sz="3024">
                <a:solidFill>
                  <a:srgbClr val="111315"/>
                </a:solidFill>
                <a:latin typeface="Raleway"/>
                <a:ea typeface="Raleway"/>
                <a:cs typeface="Raleway"/>
                <a:sym typeface="Raleway"/>
              </a:rPr>
              <a:t>Legitimate: 1,313 → 52.77%</a:t>
            </a:r>
          </a:p>
          <a:p>
            <a:pPr algn="just" marL="653061" indent="-326531" lvl="1">
              <a:lnSpc>
                <a:spcPts val="3992"/>
              </a:lnSpc>
              <a:buAutoNum type="arabicPeriod" startAt="1"/>
            </a:pPr>
            <a:r>
              <a:rPr lang="en-US" sz="3024">
                <a:solidFill>
                  <a:srgbClr val="111315"/>
                </a:solidFill>
                <a:latin typeface="Raleway"/>
                <a:ea typeface="Raleway"/>
                <a:cs typeface="Raleway"/>
                <a:sym typeface="Raleway"/>
              </a:rPr>
              <a:t> </a:t>
            </a:r>
            <a:r>
              <a:rPr lang="en-US" sz="3024">
                <a:solidFill>
                  <a:srgbClr val="111315"/>
                </a:solidFill>
                <a:latin typeface="Raleway"/>
                <a:ea typeface="Raleway"/>
                <a:cs typeface="Raleway"/>
                <a:sym typeface="Raleway"/>
              </a:rPr>
              <a:t>Phishing: 1,175 → 47.23% </a:t>
            </a:r>
          </a:p>
          <a:p>
            <a:pPr algn="ctr">
              <a:lnSpc>
                <a:spcPts val="2933"/>
              </a:lnSpc>
              <a:spcBef>
                <a:spcPct val="0"/>
              </a:spcBef>
            </a:pPr>
          </a:p>
          <a:p>
            <a:pPr algn="ctr">
              <a:lnSpc>
                <a:spcPts val="277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642957"/>
            <a:ext cx="16795690" cy="1163945"/>
            <a:chOff x="0" y="0"/>
            <a:chExt cx="22394253" cy="1551927"/>
          </a:xfrm>
        </p:grpSpPr>
        <p:sp>
          <p:nvSpPr>
            <p:cNvPr name="Freeform 7" id="7"/>
            <p:cNvSpPr/>
            <p:nvPr/>
          </p:nvSpPr>
          <p:spPr>
            <a:xfrm flipH="false" flipV="false" rot="0">
              <a:off x="0" y="0"/>
              <a:ext cx="22394256" cy="1551924"/>
            </a:xfrm>
            <a:custGeom>
              <a:avLst/>
              <a:gdLst/>
              <a:ahLst/>
              <a:cxnLst/>
              <a:rect r="r" b="b" t="t" l="l"/>
              <a:pathLst>
                <a:path h="1551924" w="22394256">
                  <a:moveTo>
                    <a:pt x="0" y="0"/>
                  </a:moveTo>
                  <a:lnTo>
                    <a:pt x="22394256" y="0"/>
                  </a:lnTo>
                  <a:lnTo>
                    <a:pt x="22394256" y="1551924"/>
                  </a:lnTo>
                  <a:lnTo>
                    <a:pt x="0" y="1551924"/>
                  </a:lnTo>
                  <a:close/>
                </a:path>
              </a:pathLst>
            </a:custGeom>
            <a:blipFill>
              <a:blip r:embed="rId2">
                <a:alphaModFix amt="0"/>
              </a:blip>
              <a:stretch>
                <a:fillRect l="0" t="-231168" r="0" b="-231169"/>
              </a:stretch>
            </a:blipFill>
          </p:spPr>
        </p:sp>
        <p:sp>
          <p:nvSpPr>
            <p:cNvPr name="TextBox 8" id="8"/>
            <p:cNvSpPr txBox="true"/>
            <p:nvPr/>
          </p:nvSpPr>
          <p:spPr>
            <a:xfrm>
              <a:off x="0" y="-76200"/>
              <a:ext cx="22394253" cy="1628127"/>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Modules Used In Our Project</a:t>
              </a:r>
            </a:p>
          </p:txBody>
        </p:sp>
      </p:grpSp>
      <p:sp>
        <p:nvSpPr>
          <p:cNvPr name="TextBox 9" id="9"/>
          <p:cNvSpPr txBox="true"/>
          <p:nvPr/>
        </p:nvSpPr>
        <p:spPr>
          <a:xfrm rot="0">
            <a:off x="0" y="2200642"/>
            <a:ext cx="10947032" cy="2856268"/>
          </a:xfrm>
          <a:prstGeom prst="rect">
            <a:avLst/>
          </a:prstGeom>
        </p:spPr>
        <p:txBody>
          <a:bodyPr anchor="t" rtlCol="false" tIns="0" lIns="0" bIns="0" rIns="0">
            <a:spAutoFit/>
          </a:bodyPr>
          <a:lstStyle/>
          <a:p>
            <a:pPr algn="l">
              <a:lnSpc>
                <a:spcPts val="2798"/>
              </a:lnSpc>
            </a:pPr>
            <a:r>
              <a:rPr lang="en-US" sz="1793" b="true">
                <a:solidFill>
                  <a:srgbClr val="111315"/>
                </a:solidFill>
                <a:latin typeface="Raleway Bold"/>
                <a:ea typeface="Raleway Bold"/>
                <a:cs typeface="Raleway Bold"/>
                <a:sym typeface="Raleway Bold"/>
              </a:rPr>
              <a:t>Module 1 — Data Understanding &amp; ML Pipeline</a:t>
            </a:r>
          </a:p>
          <a:p>
            <a:pPr algn="l">
              <a:lnSpc>
                <a:spcPts val="2486"/>
              </a:lnSpc>
            </a:pPr>
            <a:r>
              <a:rPr lang="en-US" sz="1593" b="true">
                <a:solidFill>
                  <a:srgbClr val="111315"/>
                </a:solidFill>
                <a:latin typeface="Raleway Bold"/>
                <a:ea typeface="Raleway Bold"/>
                <a:cs typeface="Raleway Bold"/>
                <a:sym typeface="Raleway Bold"/>
              </a:rPr>
              <a:t> CO1</a:t>
            </a:r>
          </a:p>
          <a:p>
            <a:pPr algn="l">
              <a:lnSpc>
                <a:spcPts val="2486"/>
              </a:lnSpc>
            </a:pPr>
            <a:r>
              <a:rPr lang="en-US" sz="1593">
                <a:solidFill>
                  <a:srgbClr val="111315"/>
                </a:solidFill>
                <a:latin typeface="Raleway"/>
                <a:ea typeface="Raleway"/>
                <a:cs typeface="Raleway"/>
                <a:sym typeface="Raleway"/>
              </a:rPr>
              <a:t>CO1 focuses on understanding the dataset and following the complete ML lifecycle through EDA and data preparation.. </a:t>
            </a:r>
          </a:p>
          <a:p>
            <a:pPr algn="l">
              <a:lnSpc>
                <a:spcPts val="2486"/>
              </a:lnSpc>
            </a:pPr>
            <a:r>
              <a:rPr lang="en-US" sz="1593">
                <a:solidFill>
                  <a:srgbClr val="111315"/>
                </a:solidFill>
                <a:latin typeface="Raleway"/>
                <a:ea typeface="Raleway"/>
                <a:cs typeface="Raleway"/>
                <a:sym typeface="Raleway"/>
              </a:rPr>
              <a:t>We identified and analysed the phishing URL dataset using EDA.</a:t>
            </a:r>
          </a:p>
          <a:p>
            <a:pPr algn="l">
              <a:lnSpc>
                <a:spcPts val="2486"/>
              </a:lnSpc>
            </a:pPr>
            <a:r>
              <a:rPr lang="en-US" sz="1593">
                <a:solidFill>
                  <a:srgbClr val="111315"/>
                </a:solidFill>
                <a:latin typeface="Raleway"/>
                <a:ea typeface="Raleway"/>
                <a:cs typeface="Raleway"/>
                <a:sym typeface="Raleway"/>
              </a:rPr>
              <a:t> We examined feature distributions, class balance, and relationships between URL features.</a:t>
            </a:r>
          </a:p>
          <a:p>
            <a:pPr algn="l">
              <a:lnSpc>
                <a:spcPts val="2486"/>
              </a:lnSpc>
            </a:pPr>
            <a:r>
              <a:rPr lang="en-US" sz="1593">
                <a:solidFill>
                  <a:srgbClr val="111315"/>
                </a:solidFill>
                <a:latin typeface="Raleway"/>
                <a:ea typeface="Raleway"/>
                <a:cs typeface="Raleway"/>
                <a:sym typeface="Raleway"/>
              </a:rPr>
              <a:t> This prepared the dataset for model training, evaluation, and prediction</a:t>
            </a:r>
            <a:r>
              <a:rPr lang="en-US" sz="1593" b="true">
                <a:solidFill>
                  <a:srgbClr val="111315"/>
                </a:solidFill>
                <a:latin typeface="Raleway Bold"/>
                <a:ea typeface="Raleway Bold"/>
                <a:cs typeface="Raleway Bold"/>
                <a:sym typeface="Raleway Bold"/>
              </a:rPr>
              <a:t>.</a:t>
            </a:r>
          </a:p>
          <a:p>
            <a:pPr algn="l">
              <a:lnSpc>
                <a:spcPts val="2486"/>
              </a:lnSpc>
            </a:pPr>
          </a:p>
          <a:p>
            <a:pPr algn="l">
              <a:lnSpc>
                <a:spcPts val="2486"/>
              </a:lnSpc>
            </a:pPr>
          </a:p>
        </p:txBody>
      </p:sp>
      <p:sp>
        <p:nvSpPr>
          <p:cNvPr name="TextBox 10" id="10"/>
          <p:cNvSpPr txBox="true"/>
          <p:nvPr/>
        </p:nvSpPr>
        <p:spPr>
          <a:xfrm rot="0">
            <a:off x="10390109" y="2238742"/>
            <a:ext cx="7142473" cy="3194485"/>
          </a:xfrm>
          <a:prstGeom prst="rect">
            <a:avLst/>
          </a:prstGeom>
        </p:spPr>
        <p:txBody>
          <a:bodyPr anchor="t" rtlCol="false" tIns="0" lIns="0" bIns="0" rIns="0">
            <a:spAutoFit/>
          </a:bodyPr>
          <a:lstStyle/>
          <a:p>
            <a:pPr algn="l">
              <a:lnSpc>
                <a:spcPts val="2300"/>
              </a:lnSpc>
            </a:pPr>
            <a:r>
              <a:rPr lang="en-US" sz="1742" b="true">
                <a:solidFill>
                  <a:srgbClr val="111315"/>
                </a:solidFill>
                <a:latin typeface="Raleway Bold"/>
                <a:ea typeface="Raleway Bold"/>
                <a:cs typeface="Raleway Bold"/>
                <a:sym typeface="Raleway Bold"/>
              </a:rPr>
              <a:t>Module 2 — URL Feature Engineering &amp; Preprocessing</a:t>
            </a:r>
          </a:p>
          <a:p>
            <a:pPr algn="l">
              <a:lnSpc>
                <a:spcPts val="2036"/>
              </a:lnSpc>
            </a:pPr>
            <a:r>
              <a:rPr lang="en-US" sz="1542" b="true">
                <a:solidFill>
                  <a:srgbClr val="111315"/>
                </a:solidFill>
                <a:latin typeface="Raleway Bold"/>
                <a:ea typeface="Raleway Bold"/>
                <a:cs typeface="Raleway Bold"/>
                <a:sym typeface="Raleway Bold"/>
              </a:rPr>
              <a:t>CO2</a:t>
            </a:r>
          </a:p>
          <a:p>
            <a:pPr algn="l">
              <a:lnSpc>
                <a:spcPts val="2036"/>
              </a:lnSpc>
            </a:pPr>
            <a:r>
              <a:rPr lang="en-US" sz="1542">
                <a:solidFill>
                  <a:srgbClr val="111315"/>
                </a:solidFill>
                <a:latin typeface="Raleway"/>
                <a:ea typeface="Raleway"/>
                <a:cs typeface="Raleway"/>
                <a:sym typeface="Raleway"/>
              </a:rPr>
              <a:t>CO2 focuses on applying Logistic Regression with Ridge and Lasso regularisation for  URL classification.</a:t>
            </a:r>
          </a:p>
          <a:p>
            <a:pPr algn="l">
              <a:lnSpc>
                <a:spcPts val="2036"/>
              </a:lnSpc>
            </a:pPr>
            <a:r>
              <a:rPr lang="en-US" sz="1542">
                <a:solidFill>
                  <a:srgbClr val="111315"/>
                </a:solidFill>
                <a:latin typeface="Raleway"/>
                <a:ea typeface="Raleway"/>
                <a:cs typeface="Raleway"/>
                <a:sym typeface="Raleway"/>
              </a:rPr>
              <a:t>We used Logistic Regression to classify URLs as legitimate or phishing.</a:t>
            </a:r>
          </a:p>
          <a:p>
            <a:pPr algn="l">
              <a:lnSpc>
                <a:spcPts val="2036"/>
              </a:lnSpc>
            </a:pPr>
            <a:r>
              <a:rPr lang="en-US" sz="1542">
                <a:solidFill>
                  <a:srgbClr val="111315"/>
                </a:solidFill>
                <a:latin typeface="Raleway"/>
                <a:ea typeface="Raleway"/>
                <a:cs typeface="Raleway"/>
                <a:sym typeface="Raleway"/>
              </a:rPr>
              <a:t> Ridge and Lasso regularisation were applied to control model complexity and reduce overfitting.</a:t>
            </a:r>
          </a:p>
          <a:p>
            <a:pPr algn="l">
              <a:lnSpc>
                <a:spcPts val="2036"/>
              </a:lnSpc>
            </a:pPr>
            <a:r>
              <a:rPr lang="en-US" sz="1542">
                <a:solidFill>
                  <a:srgbClr val="111315"/>
                </a:solidFill>
                <a:latin typeface="Raleway"/>
                <a:ea typeface="Raleway"/>
                <a:cs typeface="Raleway"/>
                <a:sym typeface="Raleway"/>
              </a:rPr>
              <a:t> The models were used to identify the most effective approach for phishing URL phishing.</a:t>
            </a:r>
          </a:p>
          <a:p>
            <a:pPr algn="l">
              <a:lnSpc>
                <a:spcPts val="6974"/>
              </a:lnSpc>
              <a:spcBef>
                <a:spcPct val="0"/>
              </a:spcBef>
            </a:pPr>
          </a:p>
        </p:txBody>
      </p:sp>
      <p:sp>
        <p:nvSpPr>
          <p:cNvPr name="TextBox 11" id="11"/>
          <p:cNvSpPr txBox="true"/>
          <p:nvPr/>
        </p:nvSpPr>
        <p:spPr>
          <a:xfrm rot="0">
            <a:off x="0" y="4843353"/>
            <a:ext cx="8573914" cy="1462541"/>
          </a:xfrm>
          <a:prstGeom prst="rect">
            <a:avLst/>
          </a:prstGeom>
        </p:spPr>
        <p:txBody>
          <a:bodyPr anchor="t" rtlCol="false" tIns="0" lIns="0" bIns="0" rIns="0">
            <a:spAutoFit/>
          </a:bodyPr>
          <a:lstStyle/>
          <a:p>
            <a:pPr algn="l">
              <a:lnSpc>
                <a:spcPts val="2155"/>
              </a:lnSpc>
              <a:spcBef>
                <a:spcPct val="0"/>
              </a:spcBef>
            </a:pPr>
            <a:r>
              <a:rPr lang="en-US" b="true" sz="1632">
                <a:solidFill>
                  <a:srgbClr val="111315"/>
                </a:solidFill>
                <a:latin typeface="Raleway Bold"/>
                <a:ea typeface="Raleway Bold"/>
                <a:cs typeface="Raleway Bold"/>
                <a:sym typeface="Raleway Bold"/>
              </a:rPr>
              <a:t>Module 3 — Tree-based supervised learning</a:t>
            </a:r>
          </a:p>
          <a:p>
            <a:pPr algn="l">
              <a:lnSpc>
                <a:spcPts val="1891"/>
              </a:lnSpc>
              <a:spcBef>
                <a:spcPct val="0"/>
              </a:spcBef>
            </a:pPr>
            <a:r>
              <a:rPr lang="en-US" b="true" sz="1432">
                <a:solidFill>
                  <a:srgbClr val="111315"/>
                </a:solidFill>
                <a:latin typeface="Raleway Bold"/>
                <a:ea typeface="Raleway Bold"/>
                <a:cs typeface="Raleway Bold"/>
                <a:sym typeface="Raleway Bold"/>
              </a:rPr>
              <a:t> CO3</a:t>
            </a:r>
          </a:p>
          <a:p>
            <a:pPr algn="l">
              <a:lnSpc>
                <a:spcPts val="1891"/>
              </a:lnSpc>
              <a:spcBef>
                <a:spcPct val="0"/>
              </a:spcBef>
            </a:pPr>
            <a:r>
              <a:rPr lang="en-US" sz="1432">
                <a:solidFill>
                  <a:srgbClr val="111315"/>
                </a:solidFill>
                <a:latin typeface="Raleway"/>
                <a:ea typeface="Raleway"/>
                <a:cs typeface="Raleway"/>
                <a:sym typeface="Raleway"/>
              </a:rPr>
              <a:t>CO3 focuses on applying tree-based machine-learning models for phishing URL classification.</a:t>
            </a:r>
          </a:p>
          <a:p>
            <a:pPr algn="l">
              <a:lnSpc>
                <a:spcPts val="1891"/>
              </a:lnSpc>
              <a:spcBef>
                <a:spcPct val="0"/>
              </a:spcBef>
            </a:pPr>
            <a:r>
              <a:rPr lang="en-US" sz="1432">
                <a:solidFill>
                  <a:srgbClr val="111315"/>
                </a:solidFill>
                <a:latin typeface="Raleway"/>
                <a:ea typeface="Raleway"/>
                <a:cs typeface="Raleway"/>
                <a:sym typeface="Raleway"/>
              </a:rPr>
              <a:t>We can use Decision Tree and Random Forest models to classify URLs as legitimate or phishing.</a:t>
            </a:r>
          </a:p>
          <a:p>
            <a:pPr algn="l">
              <a:lnSpc>
                <a:spcPts val="1891"/>
              </a:lnSpc>
              <a:spcBef>
                <a:spcPct val="0"/>
              </a:spcBef>
            </a:pPr>
            <a:r>
              <a:rPr lang="en-US" sz="1432">
                <a:solidFill>
                  <a:srgbClr val="111315"/>
                </a:solidFill>
                <a:latin typeface="Raleway"/>
                <a:ea typeface="Raleway"/>
                <a:cs typeface="Raleway"/>
                <a:sym typeface="Raleway"/>
              </a:rPr>
              <a:t> These models help identify important URL features using tree-based splitting and feature importance.</a:t>
            </a:r>
          </a:p>
          <a:p>
            <a:pPr algn="l">
              <a:lnSpc>
                <a:spcPts val="1891"/>
              </a:lnSpc>
              <a:spcBef>
                <a:spcPct val="0"/>
              </a:spcBef>
            </a:pPr>
            <a:r>
              <a:rPr lang="en-US" sz="1432">
                <a:solidFill>
                  <a:srgbClr val="111315"/>
                </a:solidFill>
                <a:latin typeface="Raleway"/>
                <a:ea typeface="Raleway"/>
                <a:cs typeface="Raleway"/>
                <a:sym typeface="Raleway"/>
              </a:rPr>
              <a:t> Their performance can be compared with our Logistic Regression, Ridge, and Lasso models.</a:t>
            </a:r>
          </a:p>
        </p:txBody>
      </p:sp>
      <p:sp>
        <p:nvSpPr>
          <p:cNvPr name="TextBox 12" id="12"/>
          <p:cNvSpPr txBox="true"/>
          <p:nvPr/>
        </p:nvSpPr>
        <p:spPr>
          <a:xfrm rot="0">
            <a:off x="10390109" y="5028336"/>
            <a:ext cx="7417817" cy="2233517"/>
          </a:xfrm>
          <a:prstGeom prst="rect">
            <a:avLst/>
          </a:prstGeom>
        </p:spPr>
        <p:txBody>
          <a:bodyPr anchor="t" rtlCol="false" tIns="0" lIns="0" bIns="0" rIns="0">
            <a:spAutoFit/>
          </a:bodyPr>
          <a:lstStyle/>
          <a:p>
            <a:pPr algn="just">
              <a:lnSpc>
                <a:spcPts val="2157"/>
              </a:lnSpc>
              <a:spcBef>
                <a:spcPct val="0"/>
              </a:spcBef>
            </a:pPr>
            <a:r>
              <a:rPr lang="en-US" b="true" sz="1634">
                <a:solidFill>
                  <a:srgbClr val="111315"/>
                </a:solidFill>
                <a:latin typeface="Raleway Bold"/>
                <a:ea typeface="Raleway Bold"/>
                <a:cs typeface="Raleway Bold"/>
                <a:sym typeface="Raleway Bold"/>
              </a:rPr>
              <a:t>M</a:t>
            </a:r>
            <a:r>
              <a:rPr lang="en-US" b="true" sz="1634">
                <a:solidFill>
                  <a:srgbClr val="111315"/>
                </a:solidFill>
                <a:latin typeface="Raleway Bold"/>
                <a:ea typeface="Raleway Bold"/>
                <a:cs typeface="Raleway Bold"/>
                <a:sym typeface="Raleway Bold"/>
              </a:rPr>
              <a:t>odule 4 —Unsupervised learning</a:t>
            </a:r>
          </a:p>
          <a:p>
            <a:pPr algn="just">
              <a:lnSpc>
                <a:spcPts val="1761"/>
              </a:lnSpc>
              <a:spcBef>
                <a:spcPct val="0"/>
              </a:spcBef>
            </a:pPr>
            <a:r>
              <a:rPr lang="en-US" b="true" sz="1334">
                <a:solidFill>
                  <a:srgbClr val="111315"/>
                </a:solidFill>
                <a:latin typeface="Raleway Bold"/>
                <a:ea typeface="Raleway Bold"/>
                <a:cs typeface="Raleway Bold"/>
                <a:sym typeface="Raleway Bold"/>
              </a:rPr>
              <a:t> CO4</a:t>
            </a:r>
          </a:p>
          <a:p>
            <a:pPr algn="just">
              <a:lnSpc>
                <a:spcPts val="1761"/>
              </a:lnSpc>
              <a:spcBef>
                <a:spcPct val="0"/>
              </a:spcBef>
            </a:pPr>
            <a:r>
              <a:rPr lang="en-US" sz="1334">
                <a:solidFill>
                  <a:srgbClr val="111315"/>
                </a:solidFill>
                <a:latin typeface="Raleway"/>
                <a:ea typeface="Raleway"/>
                <a:cs typeface="Raleway"/>
                <a:sym typeface="Raleway"/>
              </a:rPr>
              <a:t>CO4 focuses on applying unsupervised learning techniques to analyse patterns and relationships in data.</a:t>
            </a:r>
          </a:p>
          <a:p>
            <a:pPr algn="just">
              <a:lnSpc>
                <a:spcPts val="1761"/>
              </a:lnSpc>
              <a:spcBef>
                <a:spcPct val="0"/>
              </a:spcBef>
            </a:pPr>
            <a:r>
              <a:rPr lang="en-US" sz="1334">
                <a:solidFill>
                  <a:srgbClr val="111315"/>
                </a:solidFill>
                <a:latin typeface="Raleway"/>
                <a:ea typeface="Raleway"/>
                <a:cs typeface="Raleway"/>
                <a:sym typeface="Raleway"/>
              </a:rPr>
              <a:t>We can apply PCA to reduce the dimensionality of the URL feature set. This helps visualise the underlying patterns and relationships among the URL features. The reduced feature representation can support exploratory analysis before classification.</a:t>
            </a:r>
          </a:p>
          <a:p>
            <a:pPr algn="just">
              <a:lnSpc>
                <a:spcPts val="5284"/>
              </a:lnSpc>
              <a:spcBef>
                <a:spcPct val="0"/>
              </a:spcBef>
            </a:pPr>
          </a:p>
        </p:txBody>
      </p:sp>
      <p:sp>
        <p:nvSpPr>
          <p:cNvPr name="TextBox 13" id="13"/>
          <p:cNvSpPr txBox="true"/>
          <p:nvPr/>
        </p:nvSpPr>
        <p:spPr>
          <a:xfrm rot="0">
            <a:off x="-5" y="6816843"/>
            <a:ext cx="7218244" cy="2652696"/>
          </a:xfrm>
          <a:prstGeom prst="rect">
            <a:avLst/>
          </a:prstGeom>
        </p:spPr>
        <p:txBody>
          <a:bodyPr anchor="t" rtlCol="false" tIns="0" lIns="0" bIns="0" rIns="0">
            <a:spAutoFit/>
          </a:bodyPr>
          <a:lstStyle/>
          <a:p>
            <a:pPr algn="just">
              <a:lnSpc>
                <a:spcPts val="2133"/>
              </a:lnSpc>
            </a:pPr>
            <a:r>
              <a:rPr lang="en-US" sz="1616" b="true">
                <a:solidFill>
                  <a:srgbClr val="111315"/>
                </a:solidFill>
                <a:latin typeface="Raleway Bold"/>
                <a:ea typeface="Raleway Bold"/>
                <a:cs typeface="Raleway Bold"/>
                <a:sym typeface="Raleway Bold"/>
              </a:rPr>
              <a:t>Module 5 — Model evaluation</a:t>
            </a:r>
          </a:p>
          <a:p>
            <a:pPr algn="just">
              <a:lnSpc>
                <a:spcPts val="1869"/>
              </a:lnSpc>
            </a:pPr>
            <a:r>
              <a:rPr lang="en-US" sz="1416" b="true">
                <a:solidFill>
                  <a:srgbClr val="111315"/>
                </a:solidFill>
                <a:latin typeface="Raleway Bold"/>
                <a:ea typeface="Raleway Bold"/>
                <a:cs typeface="Raleway Bold"/>
                <a:sym typeface="Raleway Bold"/>
              </a:rPr>
              <a:t> CO5</a:t>
            </a:r>
          </a:p>
          <a:p>
            <a:pPr algn="just" marL="305799" indent="-152899" lvl="1">
              <a:lnSpc>
                <a:spcPts val="1869"/>
              </a:lnSpc>
              <a:buFont typeface="Arial"/>
              <a:buChar char="•"/>
            </a:pPr>
            <a:r>
              <a:rPr lang="en-US" sz="1416">
                <a:solidFill>
                  <a:srgbClr val="111315"/>
                </a:solidFill>
                <a:latin typeface="Raleway"/>
                <a:ea typeface="Raleway"/>
                <a:cs typeface="Raleway"/>
                <a:sym typeface="Raleway"/>
              </a:rPr>
              <a:t>CO5 focuses on evaluating and comparing machine-learning models using appropriate performance metrics.</a:t>
            </a:r>
          </a:p>
          <a:p>
            <a:pPr algn="just" marL="305799" indent="-152899" lvl="1">
              <a:lnSpc>
                <a:spcPts val="1869"/>
              </a:lnSpc>
              <a:buFont typeface="Arial"/>
              <a:buChar char="•"/>
            </a:pPr>
            <a:r>
              <a:rPr lang="en-US" sz="1416">
                <a:solidFill>
                  <a:srgbClr val="111315"/>
                </a:solidFill>
                <a:latin typeface="Raleway"/>
                <a:ea typeface="Raleway"/>
                <a:cs typeface="Raleway"/>
                <a:sym typeface="Raleway"/>
              </a:rPr>
              <a:t>We evaluate our models using accuracy, precision, recall, F1-score, and c</a:t>
            </a:r>
            <a:r>
              <a:rPr lang="en-US" sz="1416">
                <a:solidFill>
                  <a:srgbClr val="111315"/>
                </a:solidFill>
                <a:latin typeface="Raleway"/>
                <a:ea typeface="Raleway"/>
                <a:cs typeface="Raleway"/>
                <a:sym typeface="Raleway"/>
              </a:rPr>
              <a:t>onfusion matrix.</a:t>
            </a:r>
          </a:p>
          <a:p>
            <a:pPr algn="just" marL="326182" indent="-163091" lvl="1">
              <a:lnSpc>
                <a:spcPts val="1994"/>
              </a:lnSpc>
              <a:buFont typeface="Arial"/>
              <a:buChar char="•"/>
            </a:pPr>
            <a:r>
              <a:rPr lang="en-US" sz="1510">
                <a:solidFill>
                  <a:srgbClr val="111315"/>
                </a:solidFill>
                <a:latin typeface="Raleway"/>
                <a:ea typeface="Raleway"/>
                <a:cs typeface="Raleway"/>
                <a:sym typeface="Raleway"/>
              </a:rPr>
              <a:t> These metrics help measure how effectively the models detect phishing and legitimate URLs.</a:t>
            </a:r>
          </a:p>
          <a:p>
            <a:pPr algn="just" marL="326182" indent="-163091" lvl="1">
              <a:lnSpc>
                <a:spcPts val="1994"/>
              </a:lnSpc>
              <a:buFont typeface="Arial"/>
              <a:buChar char="•"/>
            </a:pPr>
            <a:r>
              <a:rPr lang="en-US" sz="1510">
                <a:solidFill>
                  <a:srgbClr val="111315"/>
                </a:solidFill>
                <a:latin typeface="Raleway"/>
                <a:ea typeface="Raleway"/>
                <a:cs typeface="Raleway"/>
                <a:sym typeface="Raleway"/>
              </a:rPr>
              <a:t> We compare the model performances to identify the most suitable approach for phishing URL detection.</a:t>
            </a:r>
          </a:p>
          <a:p>
            <a:pPr algn="just">
              <a:lnSpc>
                <a:spcPts val="1994"/>
              </a:lnSpc>
              <a:spcBef>
                <a:spcPct val="0"/>
              </a:spcBef>
            </a:pPr>
          </a:p>
        </p:txBody>
      </p:sp>
      <p:sp>
        <p:nvSpPr>
          <p:cNvPr name="TextBox 14" id="14"/>
          <p:cNvSpPr txBox="true"/>
          <p:nvPr/>
        </p:nvSpPr>
        <p:spPr>
          <a:xfrm rot="0">
            <a:off x="10390109" y="7233278"/>
            <a:ext cx="7417817" cy="1728469"/>
          </a:xfrm>
          <a:prstGeom prst="rect">
            <a:avLst/>
          </a:prstGeom>
        </p:spPr>
        <p:txBody>
          <a:bodyPr anchor="t" rtlCol="false" tIns="0" lIns="0" bIns="0" rIns="0">
            <a:spAutoFit/>
          </a:bodyPr>
          <a:lstStyle/>
          <a:p>
            <a:pPr algn="l">
              <a:lnSpc>
                <a:spcPts val="2054"/>
              </a:lnSpc>
              <a:spcBef>
                <a:spcPct val="0"/>
              </a:spcBef>
            </a:pPr>
            <a:r>
              <a:rPr lang="en-US" b="true" sz="1556">
                <a:solidFill>
                  <a:srgbClr val="111315"/>
                </a:solidFill>
                <a:latin typeface="Raleway Bold"/>
                <a:ea typeface="Raleway Bold"/>
                <a:cs typeface="Raleway Bold"/>
                <a:sym typeface="Raleway Bold"/>
              </a:rPr>
              <a:t>M</a:t>
            </a:r>
            <a:r>
              <a:rPr lang="en-US" b="true" sz="1556">
                <a:solidFill>
                  <a:srgbClr val="111315"/>
                </a:solidFill>
                <a:latin typeface="Raleway Bold"/>
                <a:ea typeface="Raleway Bold"/>
                <a:cs typeface="Raleway Bold"/>
                <a:sym typeface="Raleway Bold"/>
              </a:rPr>
              <a:t>odule 6 — Deployment &amp; ML engineering</a:t>
            </a:r>
          </a:p>
          <a:p>
            <a:pPr algn="l">
              <a:lnSpc>
                <a:spcPts val="1804"/>
              </a:lnSpc>
              <a:spcBef>
                <a:spcPct val="0"/>
              </a:spcBef>
            </a:pPr>
            <a:r>
              <a:rPr lang="en-US" b="true" sz="1367">
                <a:solidFill>
                  <a:srgbClr val="111315"/>
                </a:solidFill>
                <a:latin typeface="Raleway Bold"/>
                <a:ea typeface="Raleway Bold"/>
                <a:cs typeface="Raleway Bold"/>
                <a:sym typeface="Raleway Bold"/>
              </a:rPr>
              <a:t>CO6:</a:t>
            </a:r>
          </a:p>
          <a:p>
            <a:pPr algn="l">
              <a:lnSpc>
                <a:spcPts val="1689"/>
              </a:lnSpc>
              <a:spcBef>
                <a:spcPct val="0"/>
              </a:spcBef>
            </a:pPr>
            <a:r>
              <a:rPr lang="en-US" sz="1279">
                <a:solidFill>
                  <a:srgbClr val="111315"/>
                </a:solidFill>
                <a:latin typeface="Raleway"/>
                <a:ea typeface="Raleway"/>
                <a:cs typeface="Raleway"/>
                <a:sym typeface="Raleway"/>
              </a:rPr>
              <a:t>CO6 focuses on applying ML engineering practices to package, deploy, and monitor the trained phishing URL detection model.</a:t>
            </a:r>
          </a:p>
          <a:p>
            <a:pPr algn="l">
              <a:lnSpc>
                <a:spcPts val="1689"/>
              </a:lnSpc>
              <a:spcBef>
                <a:spcPct val="0"/>
              </a:spcBef>
            </a:pPr>
            <a:r>
              <a:rPr lang="en-US" sz="1279">
                <a:solidFill>
                  <a:srgbClr val="111315"/>
                </a:solidFill>
                <a:latin typeface="Raleway"/>
                <a:ea typeface="Raleway"/>
                <a:cs typeface="Raleway"/>
                <a:sym typeface="Raleway"/>
              </a:rPr>
              <a:t>We can package the trained model into a simple phishing URL detection application or REST API.</a:t>
            </a:r>
          </a:p>
          <a:p>
            <a:pPr algn="l">
              <a:lnSpc>
                <a:spcPts val="1689"/>
              </a:lnSpc>
              <a:spcBef>
                <a:spcPct val="0"/>
              </a:spcBef>
            </a:pPr>
            <a:r>
              <a:rPr lang="en-US" sz="1279">
                <a:solidFill>
                  <a:srgbClr val="111315"/>
                </a:solidFill>
                <a:latin typeface="Raleway"/>
                <a:ea typeface="Raleway"/>
                <a:cs typeface="Raleway"/>
                <a:sym typeface="Raleway"/>
              </a:rPr>
              <a:t> The application can accept a URL and return its predicted class and confidence.</a:t>
            </a:r>
          </a:p>
          <a:p>
            <a:pPr algn="l">
              <a:lnSpc>
                <a:spcPts val="1715"/>
              </a:lnSpc>
              <a:spcBef>
                <a:spcPct val="0"/>
              </a:spcBef>
            </a:pPr>
            <a:r>
              <a:rPr lang="en-US" sz="1299">
                <a:solidFill>
                  <a:srgbClr val="111315"/>
                </a:solidFill>
                <a:latin typeface="Raleway"/>
                <a:ea typeface="Raleway"/>
                <a:cs typeface="Raleway"/>
                <a:sym typeface="Raleway"/>
              </a:rPr>
              <a:t> The deployed model can be monitored and updated using new URL data over time</a:t>
            </a:r>
          </a:p>
          <a:p>
            <a:pPr algn="l">
              <a:lnSpc>
                <a:spcPts val="1372"/>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745312"/>
            <a:ext cx="16795690" cy="1215123"/>
            <a:chOff x="0" y="0"/>
            <a:chExt cx="22394253" cy="1620164"/>
          </a:xfrm>
        </p:grpSpPr>
        <p:sp>
          <p:nvSpPr>
            <p:cNvPr name="Freeform 7" id="7"/>
            <p:cNvSpPr/>
            <p:nvPr/>
          </p:nvSpPr>
          <p:spPr>
            <a:xfrm flipH="false" flipV="false" rot="0">
              <a:off x="0" y="0"/>
              <a:ext cx="22394256" cy="1620162"/>
            </a:xfrm>
            <a:custGeom>
              <a:avLst/>
              <a:gdLst/>
              <a:ahLst/>
              <a:cxnLst/>
              <a:rect r="r" b="b" t="t" l="l"/>
              <a:pathLst>
                <a:path h="1620162" w="22394256">
                  <a:moveTo>
                    <a:pt x="0" y="0"/>
                  </a:moveTo>
                  <a:lnTo>
                    <a:pt x="22394256" y="0"/>
                  </a:lnTo>
                  <a:lnTo>
                    <a:pt x="22394256" y="1620162"/>
                  </a:lnTo>
                  <a:lnTo>
                    <a:pt x="0" y="1620162"/>
                  </a:lnTo>
                  <a:close/>
                </a:path>
              </a:pathLst>
            </a:custGeom>
            <a:blipFill>
              <a:blip r:embed="rId2">
                <a:alphaModFix amt="0"/>
              </a:blip>
              <a:stretch>
                <a:fillRect l="0" t="-219326" r="0" b="-219326"/>
              </a:stretch>
            </a:blipFill>
          </p:spPr>
        </p:sp>
        <p:sp>
          <p:nvSpPr>
            <p:cNvPr name="TextBox 8" id="8"/>
            <p:cNvSpPr txBox="true"/>
            <p:nvPr/>
          </p:nvSpPr>
          <p:spPr>
            <a:xfrm>
              <a:off x="0" y="-76200"/>
              <a:ext cx="22394253" cy="1696364"/>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EDA (Explanatory Data Analysis)</a:t>
              </a:r>
            </a:p>
          </p:txBody>
        </p:sp>
      </p:grpSp>
      <p:sp>
        <p:nvSpPr>
          <p:cNvPr name="TextBox 9" id="9"/>
          <p:cNvSpPr txBox="true"/>
          <p:nvPr/>
        </p:nvSpPr>
        <p:spPr>
          <a:xfrm rot="0">
            <a:off x="862451" y="2494597"/>
            <a:ext cx="16612810" cy="6146483"/>
          </a:xfrm>
          <a:prstGeom prst="rect">
            <a:avLst/>
          </a:prstGeom>
        </p:spPr>
        <p:txBody>
          <a:bodyPr anchor="t" rtlCol="false" tIns="0" lIns="0" bIns="0" rIns="0">
            <a:spAutoFit/>
          </a:bodyPr>
          <a:lstStyle/>
          <a:p>
            <a:pPr algn="l" marL="488632" indent="-244316" lvl="1">
              <a:lnSpc>
                <a:spcPts val="4212"/>
              </a:lnSpc>
              <a:buFont typeface="Arial"/>
              <a:buChar char="•"/>
            </a:pPr>
            <a:r>
              <a:rPr lang="en-US" sz="2700">
                <a:solidFill>
                  <a:srgbClr val="111315"/>
                </a:solidFill>
                <a:latin typeface="Raleway"/>
                <a:ea typeface="Raleway"/>
                <a:cs typeface="Raleway"/>
                <a:sym typeface="Raleway"/>
              </a:rPr>
              <a:t>Dataset shape: 2,488 rows × 14 columns. </a:t>
            </a:r>
          </a:p>
          <a:p>
            <a:pPr algn="l" marL="488632" indent="-244316" lvl="1">
              <a:lnSpc>
                <a:spcPts val="4212"/>
              </a:lnSpc>
              <a:buFont typeface="Arial"/>
              <a:buChar char="•"/>
            </a:pPr>
            <a:r>
              <a:rPr lang="en-US" sz="2700">
                <a:solidFill>
                  <a:srgbClr val="111315"/>
                </a:solidFill>
                <a:latin typeface="Raleway"/>
                <a:ea typeface="Raleway"/>
                <a:cs typeface="Raleway"/>
                <a:sym typeface="Raleway"/>
              </a:rPr>
              <a:t>Target distribution: 1,313 legitimate URLs and 1,175 phishing URLs. </a:t>
            </a:r>
          </a:p>
          <a:p>
            <a:pPr algn="l" marL="488632" indent="-244316" lvl="1">
              <a:lnSpc>
                <a:spcPts val="4212"/>
              </a:lnSpc>
              <a:buFont typeface="Arial"/>
              <a:buChar char="•"/>
            </a:pPr>
            <a:r>
              <a:rPr lang="en-US" sz="2700">
                <a:solidFill>
                  <a:srgbClr val="111315"/>
                </a:solidFill>
                <a:latin typeface="Raleway"/>
                <a:ea typeface="Raleway"/>
                <a:cs typeface="Raleway"/>
                <a:sym typeface="Raleway"/>
              </a:rPr>
              <a:t>Missing-value analysis: Checked the dataset for missing values. </a:t>
            </a:r>
          </a:p>
          <a:p>
            <a:pPr algn="l" marL="488632" indent="-244316" lvl="1">
              <a:lnSpc>
                <a:spcPts val="4212"/>
              </a:lnSpc>
              <a:buFont typeface="Arial"/>
              <a:buChar char="•"/>
            </a:pPr>
            <a:r>
              <a:rPr lang="en-US" sz="2700">
                <a:solidFill>
                  <a:srgbClr val="111315"/>
                </a:solidFill>
                <a:latin typeface="Raleway"/>
                <a:ea typeface="Raleway"/>
                <a:cs typeface="Raleway"/>
                <a:sym typeface="Raleway"/>
              </a:rPr>
              <a:t>Duplicate analysis: Checked for duplicate URL records. </a:t>
            </a:r>
          </a:p>
          <a:p>
            <a:pPr algn="l" marL="488632" indent="-244316" lvl="1">
              <a:lnSpc>
                <a:spcPts val="4212"/>
              </a:lnSpc>
              <a:buFont typeface="Arial"/>
              <a:buChar char="•"/>
            </a:pPr>
            <a:r>
              <a:rPr lang="en-US" sz="2700">
                <a:solidFill>
                  <a:srgbClr val="111315"/>
                </a:solidFill>
                <a:latin typeface="Raleway"/>
                <a:ea typeface="Raleway"/>
                <a:cs typeface="Raleway"/>
                <a:sym typeface="Raleway"/>
              </a:rPr>
              <a:t>Feature distribution: Analysed features such as URL length, path length, number of dots, hyphens, www, and sensitive words. </a:t>
            </a:r>
          </a:p>
          <a:p>
            <a:pPr algn="l" marL="488632" indent="-244316" lvl="1">
              <a:lnSpc>
                <a:spcPts val="4212"/>
              </a:lnSpc>
              <a:buFont typeface="Arial"/>
              <a:buChar char="•"/>
            </a:pPr>
            <a:r>
              <a:rPr lang="en-US" sz="2700">
                <a:solidFill>
                  <a:srgbClr val="111315"/>
                </a:solidFill>
                <a:latin typeface="Raleway"/>
                <a:ea typeface="Raleway"/>
                <a:cs typeface="Raleway"/>
                <a:sym typeface="Raleway"/>
              </a:rPr>
              <a:t>Class-wise comparison: Compared URL characteristics between legitimate and phishing URLs. </a:t>
            </a:r>
          </a:p>
          <a:p>
            <a:pPr algn="l" marL="488632" indent="-244316" lvl="1">
              <a:lnSpc>
                <a:spcPts val="4212"/>
              </a:lnSpc>
              <a:buFont typeface="Arial"/>
              <a:buChar char="•"/>
            </a:pPr>
            <a:r>
              <a:rPr lang="en-US" sz="2700">
                <a:solidFill>
                  <a:srgbClr val="111315"/>
                </a:solidFill>
                <a:latin typeface="Raleway"/>
                <a:ea typeface="Raleway"/>
                <a:cs typeface="Raleway"/>
                <a:sym typeface="Raleway"/>
              </a:rPr>
              <a:t>Correlation analysis: Examined relationships between numerical features to identify related or redundant variables.</a:t>
            </a:r>
          </a:p>
          <a:p>
            <a:pPr algn="l" marL="488632" indent="-244316" lvl="1">
              <a:lnSpc>
                <a:spcPts val="4212"/>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745312"/>
            <a:ext cx="16795690" cy="1215123"/>
            <a:chOff x="0" y="0"/>
            <a:chExt cx="22394253" cy="1620164"/>
          </a:xfrm>
        </p:grpSpPr>
        <p:sp>
          <p:nvSpPr>
            <p:cNvPr name="Freeform 7" id="7"/>
            <p:cNvSpPr/>
            <p:nvPr/>
          </p:nvSpPr>
          <p:spPr>
            <a:xfrm flipH="false" flipV="false" rot="0">
              <a:off x="0" y="0"/>
              <a:ext cx="22394256" cy="1620162"/>
            </a:xfrm>
            <a:custGeom>
              <a:avLst/>
              <a:gdLst/>
              <a:ahLst/>
              <a:cxnLst/>
              <a:rect r="r" b="b" t="t" l="l"/>
              <a:pathLst>
                <a:path h="1620162" w="22394256">
                  <a:moveTo>
                    <a:pt x="0" y="0"/>
                  </a:moveTo>
                  <a:lnTo>
                    <a:pt x="22394256" y="0"/>
                  </a:lnTo>
                  <a:lnTo>
                    <a:pt x="22394256" y="1620162"/>
                  </a:lnTo>
                  <a:lnTo>
                    <a:pt x="0" y="1620162"/>
                  </a:lnTo>
                  <a:close/>
                </a:path>
              </a:pathLst>
            </a:custGeom>
            <a:blipFill>
              <a:blip r:embed="rId2">
                <a:alphaModFix amt="0"/>
              </a:blip>
              <a:stretch>
                <a:fillRect l="0" t="-219326" r="0" b="-219326"/>
              </a:stretch>
            </a:blipFill>
          </p:spPr>
        </p:sp>
        <p:sp>
          <p:nvSpPr>
            <p:cNvPr name="TextBox 8" id="8"/>
            <p:cNvSpPr txBox="true"/>
            <p:nvPr/>
          </p:nvSpPr>
          <p:spPr>
            <a:xfrm>
              <a:off x="0" y="-76200"/>
              <a:ext cx="22394253" cy="1696364"/>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EDA Observation</a:t>
              </a:r>
            </a:p>
          </p:txBody>
        </p:sp>
      </p:grpSp>
      <p:sp>
        <p:nvSpPr>
          <p:cNvPr name="Freeform 9" id="9"/>
          <p:cNvSpPr/>
          <p:nvPr/>
        </p:nvSpPr>
        <p:spPr>
          <a:xfrm flipH="false" flipV="false" rot="0">
            <a:off x="11909435" y="5230015"/>
            <a:ext cx="5748064" cy="4028285"/>
          </a:xfrm>
          <a:custGeom>
            <a:avLst/>
            <a:gdLst/>
            <a:ahLst/>
            <a:cxnLst/>
            <a:rect r="r" b="b" t="t" l="l"/>
            <a:pathLst>
              <a:path h="4028285" w="5748064">
                <a:moveTo>
                  <a:pt x="0" y="0"/>
                </a:moveTo>
                <a:lnTo>
                  <a:pt x="5748064" y="0"/>
                </a:lnTo>
                <a:lnTo>
                  <a:pt x="5748064" y="4028285"/>
                </a:lnTo>
                <a:lnTo>
                  <a:pt x="0" y="4028285"/>
                </a:lnTo>
                <a:lnTo>
                  <a:pt x="0" y="0"/>
                </a:lnTo>
                <a:close/>
              </a:path>
            </a:pathLst>
          </a:custGeom>
          <a:blipFill>
            <a:blip r:embed="rId3"/>
            <a:stretch>
              <a:fillRect l="-6667" t="0" r="-6667" b="0"/>
            </a:stretch>
          </a:blipFill>
        </p:spPr>
      </p:sp>
      <p:sp>
        <p:nvSpPr>
          <p:cNvPr name="Freeform 10" id="10"/>
          <p:cNvSpPr/>
          <p:nvPr/>
        </p:nvSpPr>
        <p:spPr>
          <a:xfrm flipH="false" flipV="false" rot="0">
            <a:off x="3221921" y="5395753"/>
            <a:ext cx="7000944" cy="3735972"/>
          </a:xfrm>
          <a:custGeom>
            <a:avLst/>
            <a:gdLst/>
            <a:ahLst/>
            <a:cxnLst/>
            <a:rect r="r" b="b" t="t" l="l"/>
            <a:pathLst>
              <a:path h="3735972" w="7000944">
                <a:moveTo>
                  <a:pt x="0" y="0"/>
                </a:moveTo>
                <a:lnTo>
                  <a:pt x="7000945" y="0"/>
                </a:lnTo>
                <a:lnTo>
                  <a:pt x="7000945" y="3735972"/>
                </a:lnTo>
                <a:lnTo>
                  <a:pt x="0" y="3735972"/>
                </a:lnTo>
                <a:lnTo>
                  <a:pt x="0" y="0"/>
                </a:lnTo>
                <a:close/>
              </a:path>
            </a:pathLst>
          </a:custGeom>
          <a:blipFill>
            <a:blip r:embed="rId4"/>
            <a:stretch>
              <a:fillRect l="-2100" t="-551" r="0" b="-3519"/>
            </a:stretch>
          </a:blipFill>
        </p:spPr>
      </p:sp>
      <p:sp>
        <p:nvSpPr>
          <p:cNvPr name="TextBox 11" id="11"/>
          <p:cNvSpPr txBox="true"/>
          <p:nvPr/>
        </p:nvSpPr>
        <p:spPr>
          <a:xfrm rot="0">
            <a:off x="862451" y="2494597"/>
            <a:ext cx="16612810" cy="3715131"/>
          </a:xfrm>
          <a:prstGeom prst="rect">
            <a:avLst/>
          </a:prstGeom>
        </p:spPr>
        <p:txBody>
          <a:bodyPr anchor="t" rtlCol="false" tIns="0" lIns="0" bIns="0" rIns="0">
            <a:spAutoFit/>
          </a:bodyPr>
          <a:lstStyle/>
          <a:p>
            <a:pPr algn="l" marL="488632" indent="-244316" lvl="1">
              <a:lnSpc>
                <a:spcPts val="4212"/>
              </a:lnSpc>
              <a:buFont typeface="Arial"/>
              <a:buChar char="•"/>
            </a:pPr>
            <a:r>
              <a:rPr lang="en-US" sz="2700">
                <a:solidFill>
                  <a:srgbClr val="111315"/>
                </a:solidFill>
                <a:latin typeface="Raleway"/>
                <a:ea typeface="Raleway"/>
                <a:cs typeface="Raleway"/>
                <a:sym typeface="Raleway"/>
              </a:rPr>
              <a:t>The dataset contains two relatively balanced classes, making it suitable for binary classification. </a:t>
            </a:r>
          </a:p>
          <a:p>
            <a:pPr algn="l" marL="488632" indent="-244316" lvl="1">
              <a:lnSpc>
                <a:spcPts val="4212"/>
              </a:lnSpc>
              <a:buFont typeface="Arial"/>
              <a:buChar char="•"/>
            </a:pPr>
            <a:r>
              <a:rPr lang="en-US" sz="2700">
                <a:solidFill>
                  <a:srgbClr val="111315"/>
                </a:solidFill>
                <a:latin typeface="Raleway"/>
                <a:ea typeface="Raleway"/>
                <a:cs typeface="Raleway"/>
                <a:sym typeface="Raleway"/>
              </a:rPr>
              <a:t>URL characteristics show different patterns between legitimate and phishing URLs. </a:t>
            </a:r>
          </a:p>
          <a:p>
            <a:pPr algn="l" marL="488632" indent="-244316" lvl="1">
              <a:lnSpc>
                <a:spcPts val="4212"/>
              </a:lnSpc>
              <a:buFont typeface="Arial"/>
              <a:buChar char="•"/>
            </a:pPr>
            <a:r>
              <a:rPr lang="en-US" sz="2700">
                <a:solidFill>
                  <a:srgbClr val="111315"/>
                </a:solidFill>
                <a:latin typeface="Raleway"/>
                <a:ea typeface="Raleway"/>
                <a:cs typeface="Raleway"/>
                <a:sym typeface="Raleway"/>
              </a:rPr>
              <a:t>Features related to URL structure and suspicious elements provide useful information for classification. </a:t>
            </a:r>
          </a:p>
          <a:p>
            <a:pPr algn="l" marL="488632" indent="-244316" lvl="1">
              <a:lnSpc>
                <a:spcPts val="4212"/>
              </a:lnSpc>
              <a:buFont typeface="Arial"/>
              <a:buChar char="•"/>
            </a:pPr>
            <a:r>
              <a:rPr lang="en-US" sz="2700">
                <a:solidFill>
                  <a:srgbClr val="111315"/>
                </a:solidFill>
                <a:latin typeface="Raleway"/>
                <a:ea typeface="Raleway"/>
                <a:cs typeface="Raleway"/>
                <a:sym typeface="Raleway"/>
              </a:rPr>
              <a:t>Correlation analysis helps understand relationships among the input features before applying Logistic Regression.</a:t>
            </a:r>
          </a:p>
          <a:p>
            <a:pPr algn="l" marL="488632" indent="-244316" lvl="1">
              <a:lnSpc>
                <a:spcPts val="4212"/>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762371"/>
            <a:ext cx="16795690" cy="1010402"/>
            <a:chOff x="0" y="0"/>
            <a:chExt cx="22394253" cy="1347203"/>
          </a:xfrm>
        </p:grpSpPr>
        <p:sp>
          <p:nvSpPr>
            <p:cNvPr name="Freeform 7" id="7"/>
            <p:cNvSpPr/>
            <p:nvPr/>
          </p:nvSpPr>
          <p:spPr>
            <a:xfrm flipH="false" flipV="false" rot="0">
              <a:off x="0" y="0"/>
              <a:ext cx="22394256" cy="1347208"/>
            </a:xfrm>
            <a:custGeom>
              <a:avLst/>
              <a:gdLst/>
              <a:ahLst/>
              <a:cxnLst/>
              <a:rect r="r" b="b" t="t" l="l"/>
              <a:pathLst>
                <a:path h="1347208" w="22394256">
                  <a:moveTo>
                    <a:pt x="0" y="0"/>
                  </a:moveTo>
                  <a:lnTo>
                    <a:pt x="22394256" y="0"/>
                  </a:lnTo>
                  <a:lnTo>
                    <a:pt x="22394256" y="1347208"/>
                  </a:lnTo>
                  <a:lnTo>
                    <a:pt x="0" y="1347208"/>
                  </a:lnTo>
                  <a:close/>
                </a:path>
              </a:pathLst>
            </a:custGeom>
            <a:blipFill>
              <a:blip r:embed="rId2">
                <a:alphaModFix amt="0"/>
              </a:blip>
              <a:stretch>
                <a:fillRect l="0" t="-273894" r="0" b="-273894"/>
              </a:stretch>
            </a:blipFill>
          </p:spPr>
        </p:sp>
        <p:sp>
          <p:nvSpPr>
            <p:cNvPr name="TextBox 8" id="8"/>
            <p:cNvSpPr txBox="true"/>
            <p:nvPr/>
          </p:nvSpPr>
          <p:spPr>
            <a:xfrm>
              <a:off x="0" y="-76200"/>
              <a:ext cx="22394253" cy="1423403"/>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CORREALTION ANALYSIS</a:t>
              </a:r>
            </a:p>
          </p:txBody>
        </p:sp>
      </p:grpSp>
      <p:sp>
        <p:nvSpPr>
          <p:cNvPr name="TextBox 9" id="9"/>
          <p:cNvSpPr txBox="true"/>
          <p:nvPr/>
        </p:nvSpPr>
        <p:spPr>
          <a:xfrm rot="0">
            <a:off x="837595" y="2433907"/>
            <a:ext cx="16612810" cy="4781931"/>
          </a:xfrm>
          <a:prstGeom prst="rect">
            <a:avLst/>
          </a:prstGeom>
        </p:spPr>
        <p:txBody>
          <a:bodyPr anchor="t" rtlCol="false" tIns="0" lIns="0" bIns="0" rIns="0">
            <a:spAutoFit/>
          </a:bodyPr>
          <a:lstStyle/>
          <a:p>
            <a:pPr algn="l">
              <a:lnSpc>
                <a:spcPts val="4212"/>
              </a:lnSpc>
            </a:pPr>
            <a:r>
              <a:rPr lang="en-US" sz="2700">
                <a:solidFill>
                  <a:srgbClr val="111315"/>
                </a:solidFill>
                <a:latin typeface="Raleway"/>
                <a:ea typeface="Raleway"/>
                <a:cs typeface="Raleway"/>
                <a:sym typeface="Raleway"/>
              </a:rPr>
              <a:t>In our phishing URL dataset, we analysed features such as URL length, path length, number of dots, hyphens, www, sensitive words, and HTTPS status. A correlation heatmap was used to visually represent these relationships.</a:t>
            </a:r>
          </a:p>
          <a:p>
            <a:pPr algn="l" marL="488632" indent="-244316" lvl="1">
              <a:lnSpc>
                <a:spcPts val="4212"/>
              </a:lnSpc>
              <a:buFont typeface="Arial"/>
              <a:buChar char="•"/>
            </a:pPr>
            <a:r>
              <a:rPr lang="en-US" sz="2700">
                <a:solidFill>
                  <a:srgbClr val="111315"/>
                </a:solidFill>
                <a:latin typeface="Raleway"/>
                <a:ea typeface="Raleway"/>
                <a:cs typeface="Raleway"/>
                <a:sym typeface="Raleway"/>
              </a:rPr>
              <a:t>A positive correlation means that when one feature increases, the other tends to increase as well. </a:t>
            </a:r>
          </a:p>
          <a:p>
            <a:pPr algn="l" marL="488632" indent="-244316" lvl="1">
              <a:lnSpc>
                <a:spcPts val="4212"/>
              </a:lnSpc>
              <a:buFont typeface="Arial"/>
              <a:buChar char="•"/>
            </a:pPr>
            <a:r>
              <a:rPr lang="en-US" sz="2700">
                <a:solidFill>
                  <a:srgbClr val="111315"/>
                </a:solidFill>
                <a:latin typeface="Raleway"/>
                <a:ea typeface="Raleway"/>
                <a:cs typeface="Raleway"/>
                <a:sym typeface="Raleway"/>
              </a:rPr>
              <a:t>A negative correlation means that when one feature increases, the other tends to decrease. </a:t>
            </a:r>
          </a:p>
          <a:p>
            <a:pPr algn="l" marL="488632" indent="-244316" lvl="1">
              <a:lnSpc>
                <a:spcPts val="4212"/>
              </a:lnSpc>
              <a:buFont typeface="Arial"/>
              <a:buChar char="•"/>
            </a:pPr>
            <a:r>
              <a:rPr lang="en-US" sz="2700">
                <a:solidFill>
                  <a:srgbClr val="111315"/>
                </a:solidFill>
                <a:latin typeface="Raleway"/>
                <a:ea typeface="Raleway"/>
                <a:cs typeface="Raleway"/>
                <a:sym typeface="Raleway"/>
              </a:rPr>
              <a:t>A correlation close to 0 indicates little or no linear relationship. </a:t>
            </a:r>
          </a:p>
          <a:p>
            <a:pPr algn="l" marL="488632" indent="-244316" lvl="1">
              <a:lnSpc>
                <a:spcPts val="4212"/>
              </a:lnSpc>
            </a:pPr>
            <a:r>
              <a:rPr lang="en-US" sz="2700">
                <a:solidFill>
                  <a:srgbClr val="111315"/>
                </a:solidFill>
                <a:latin typeface="Raleway"/>
                <a:ea typeface="Raleway"/>
                <a:cs typeface="Raleway"/>
                <a:sym typeface="Raleway"/>
              </a:rPr>
              <a:t>The analysis helps us identify which features contain useful information for distinguishing phishing URLs from legitimate URLs and whether some features are strongly related to each other.</a:t>
            </a:r>
          </a:p>
          <a:p>
            <a:pPr algn="l" marL="488632" indent="-244316" lvl="1">
              <a:lnSpc>
                <a:spcPts val="4212"/>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915914"/>
            <a:ext cx="16795690" cy="959225"/>
            <a:chOff x="0" y="0"/>
            <a:chExt cx="22394253" cy="1278966"/>
          </a:xfrm>
        </p:grpSpPr>
        <p:sp>
          <p:nvSpPr>
            <p:cNvPr name="Freeform 7" id="7"/>
            <p:cNvSpPr/>
            <p:nvPr/>
          </p:nvSpPr>
          <p:spPr>
            <a:xfrm flipH="false" flipV="false" rot="0">
              <a:off x="0" y="0"/>
              <a:ext cx="22394256" cy="1278968"/>
            </a:xfrm>
            <a:custGeom>
              <a:avLst/>
              <a:gdLst/>
              <a:ahLst/>
              <a:cxnLst/>
              <a:rect r="r" b="b" t="t" l="l"/>
              <a:pathLst>
                <a:path h="1278968" w="22394256">
                  <a:moveTo>
                    <a:pt x="0" y="0"/>
                  </a:moveTo>
                  <a:lnTo>
                    <a:pt x="22394256" y="0"/>
                  </a:lnTo>
                  <a:lnTo>
                    <a:pt x="22394256" y="1278968"/>
                  </a:lnTo>
                  <a:lnTo>
                    <a:pt x="0" y="1278968"/>
                  </a:lnTo>
                  <a:close/>
                </a:path>
              </a:pathLst>
            </a:custGeom>
            <a:blipFill>
              <a:blip r:embed="rId2">
                <a:alphaModFix amt="0"/>
              </a:blip>
              <a:stretch>
                <a:fillRect l="0" t="-291175" r="0" b="-291175"/>
              </a:stretch>
            </a:blipFill>
          </p:spPr>
        </p:sp>
        <p:sp>
          <p:nvSpPr>
            <p:cNvPr name="TextBox 8" id="8"/>
            <p:cNvSpPr txBox="true"/>
            <p:nvPr/>
          </p:nvSpPr>
          <p:spPr>
            <a:xfrm>
              <a:off x="0" y="-66675"/>
              <a:ext cx="22394253" cy="1345641"/>
            </a:xfrm>
            <a:prstGeom prst="rect">
              <a:avLst/>
            </a:prstGeom>
          </p:spPr>
          <p:txBody>
            <a:bodyPr anchor="b" rtlCol="false" tIns="0" lIns="0" bIns="0" rIns="0"/>
            <a:lstStyle/>
            <a:p>
              <a:pPr algn="ctr">
                <a:lnSpc>
                  <a:spcPts val="6415"/>
                </a:lnSpc>
              </a:pPr>
              <a:r>
                <a:rPr lang="en-US" sz="4859" b="true">
                  <a:solidFill>
                    <a:srgbClr val="435A57"/>
                  </a:solidFill>
                  <a:latin typeface="Raleway Bold"/>
                  <a:ea typeface="Raleway Bold"/>
                  <a:cs typeface="Raleway Bold"/>
                  <a:sym typeface="Raleway Bold"/>
                </a:rPr>
                <a:t>PROPOSED METHADOLOGY</a:t>
              </a:r>
            </a:p>
          </p:txBody>
        </p:sp>
      </p:grpSp>
      <p:sp>
        <p:nvSpPr>
          <p:cNvPr name="TextBox 9" id="9"/>
          <p:cNvSpPr txBox="true"/>
          <p:nvPr/>
        </p:nvSpPr>
        <p:spPr>
          <a:xfrm rot="0">
            <a:off x="862451" y="2494597"/>
            <a:ext cx="16612810" cy="6146483"/>
          </a:xfrm>
          <a:prstGeom prst="rect">
            <a:avLst/>
          </a:prstGeom>
        </p:spPr>
        <p:txBody>
          <a:bodyPr anchor="t" rtlCol="false" tIns="0" lIns="0" bIns="0" rIns="0">
            <a:spAutoFit/>
          </a:bodyPr>
          <a:lstStyle/>
          <a:p>
            <a:pPr algn="l" marL="488632" indent="-244316" lvl="1">
              <a:lnSpc>
                <a:spcPts val="4212"/>
              </a:lnSpc>
              <a:buFont typeface="Arial"/>
              <a:buChar char="•"/>
            </a:pPr>
            <a:r>
              <a:rPr lang="en-US" sz="2700">
                <a:solidFill>
                  <a:srgbClr val="111315"/>
                </a:solidFill>
                <a:latin typeface="Raleway"/>
                <a:ea typeface="Raleway"/>
                <a:cs typeface="Raleway"/>
                <a:sym typeface="Raleway"/>
              </a:rPr>
              <a:t>Our proposed methodology follows a systematic machine-learning approach for detecting phishing URLs. First, the labelled dataset is collected and preprocessed, followed by </a:t>
            </a:r>
            <a:r>
              <a:rPr lang="en-US" b="true" sz="2700">
                <a:solidFill>
                  <a:srgbClr val="111315"/>
                </a:solidFill>
                <a:latin typeface="Raleway Bold"/>
                <a:ea typeface="Raleway Bold"/>
                <a:cs typeface="Raleway Bold"/>
                <a:sym typeface="Raleway Bold"/>
              </a:rPr>
              <a:t>Exploratory Data Analysis (EDA)</a:t>
            </a:r>
            <a:r>
              <a:rPr lang="en-US" sz="2700">
                <a:solidFill>
                  <a:srgbClr val="111315"/>
                </a:solidFill>
                <a:latin typeface="Raleway"/>
                <a:ea typeface="Raleway"/>
                <a:cs typeface="Raleway"/>
                <a:sym typeface="Raleway"/>
              </a:rPr>
              <a:t> to understand the data, feature patterns, and correlations. Relevant URL-based features are then used to train a </a:t>
            </a:r>
            <a:r>
              <a:rPr lang="en-US" b="true" sz="2700">
                <a:solidFill>
                  <a:srgbClr val="111315"/>
                </a:solidFill>
                <a:latin typeface="Raleway Bold"/>
                <a:ea typeface="Raleway Bold"/>
                <a:cs typeface="Raleway Bold"/>
                <a:sym typeface="Raleway Bold"/>
              </a:rPr>
              <a:t>Logistic Regression</a:t>
            </a:r>
            <a:r>
              <a:rPr lang="en-US" sz="2700">
                <a:solidFill>
                  <a:srgbClr val="111315"/>
                </a:solidFill>
                <a:latin typeface="Raleway"/>
                <a:ea typeface="Raleway"/>
                <a:cs typeface="Raleway"/>
                <a:sym typeface="Raleway"/>
              </a:rPr>
              <a:t> model, along with </a:t>
            </a:r>
            <a:r>
              <a:rPr lang="en-US" b="true" sz="2700">
                <a:solidFill>
                  <a:srgbClr val="111315"/>
                </a:solidFill>
                <a:latin typeface="Raleway Bold"/>
                <a:ea typeface="Raleway Bold"/>
                <a:cs typeface="Raleway Bold"/>
                <a:sym typeface="Raleway Bold"/>
              </a:rPr>
              <a:t>Ridge (L2) and Lasso (L1) regularisation</a:t>
            </a:r>
            <a:r>
              <a:rPr lang="en-US" sz="2700">
                <a:solidFill>
                  <a:srgbClr val="111315"/>
                </a:solidFill>
                <a:latin typeface="Raleway"/>
                <a:ea typeface="Raleway"/>
                <a:cs typeface="Raleway"/>
                <a:sym typeface="Raleway"/>
              </a:rPr>
              <a:t> to control model complexity and reduce overfitting. Finally, the models are evaluated and compared using </a:t>
            </a:r>
            <a:r>
              <a:rPr lang="en-US" b="true" sz="2700">
                <a:solidFill>
                  <a:srgbClr val="111315"/>
                </a:solidFill>
                <a:latin typeface="Raleway Bold"/>
                <a:ea typeface="Raleway Bold"/>
                <a:cs typeface="Raleway Bold"/>
                <a:sym typeface="Raleway Bold"/>
              </a:rPr>
              <a:t>accuracy, precision, recall, F1-score, and confusion matrix</a:t>
            </a:r>
            <a:r>
              <a:rPr lang="en-US" sz="2700">
                <a:solidFill>
                  <a:srgbClr val="111315"/>
                </a:solidFill>
                <a:latin typeface="Raleway"/>
                <a:ea typeface="Raleway"/>
                <a:cs typeface="Raleway"/>
                <a:sym typeface="Raleway"/>
              </a:rPr>
              <a:t>, and the best-performing model can be used to classify new URLs as legitimate or phishing.</a:t>
            </a:r>
          </a:p>
          <a:p>
            <a:pPr algn="l" marL="488632" indent="-244316" lvl="1">
              <a:lnSpc>
                <a:spcPts val="4212"/>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36892" y="660016"/>
            <a:ext cx="16795690" cy="1044521"/>
            <a:chOff x="0" y="0"/>
            <a:chExt cx="22394253" cy="1392695"/>
          </a:xfrm>
        </p:grpSpPr>
        <p:sp>
          <p:nvSpPr>
            <p:cNvPr name="Freeform 7" id="7"/>
            <p:cNvSpPr/>
            <p:nvPr/>
          </p:nvSpPr>
          <p:spPr>
            <a:xfrm flipH="false" flipV="false" rot="0">
              <a:off x="0" y="0"/>
              <a:ext cx="22394256" cy="1392700"/>
            </a:xfrm>
            <a:custGeom>
              <a:avLst/>
              <a:gdLst/>
              <a:ahLst/>
              <a:cxnLst/>
              <a:rect r="r" b="b" t="t" l="l"/>
              <a:pathLst>
                <a:path h="1392700" w="22394256">
                  <a:moveTo>
                    <a:pt x="0" y="0"/>
                  </a:moveTo>
                  <a:lnTo>
                    <a:pt x="22394256" y="0"/>
                  </a:lnTo>
                  <a:lnTo>
                    <a:pt x="22394256" y="1392700"/>
                  </a:lnTo>
                  <a:lnTo>
                    <a:pt x="0" y="1392700"/>
                  </a:lnTo>
                  <a:close/>
                </a:path>
              </a:pathLst>
            </a:custGeom>
            <a:blipFill>
              <a:blip r:embed="rId2">
                <a:alphaModFix amt="0"/>
              </a:blip>
              <a:stretch>
                <a:fillRect l="0" t="-263314" r="0" b="-263314"/>
              </a:stretch>
            </a:blipFill>
          </p:spPr>
        </p:sp>
        <p:sp>
          <p:nvSpPr>
            <p:cNvPr name="TextBox 8" id="8"/>
            <p:cNvSpPr txBox="true"/>
            <p:nvPr/>
          </p:nvSpPr>
          <p:spPr>
            <a:xfrm>
              <a:off x="0" y="-76200"/>
              <a:ext cx="22394253" cy="1468895"/>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LOGISTIC REGRESSION</a:t>
              </a:r>
            </a:p>
          </p:txBody>
        </p:sp>
      </p:grpSp>
      <p:sp>
        <p:nvSpPr>
          <p:cNvPr name="TextBox 9" id="9"/>
          <p:cNvSpPr txBox="true"/>
          <p:nvPr/>
        </p:nvSpPr>
        <p:spPr>
          <a:xfrm rot="0">
            <a:off x="862451" y="2494597"/>
            <a:ext cx="16612810" cy="6146483"/>
          </a:xfrm>
          <a:prstGeom prst="rect">
            <a:avLst/>
          </a:prstGeom>
        </p:spPr>
        <p:txBody>
          <a:bodyPr anchor="t" rtlCol="false" tIns="0" lIns="0" bIns="0" rIns="0">
            <a:spAutoFit/>
          </a:bodyPr>
          <a:lstStyle/>
          <a:p>
            <a:pPr algn="l" marL="488632" indent="-244316" lvl="1">
              <a:lnSpc>
                <a:spcPts val="4212"/>
              </a:lnSpc>
              <a:buFont typeface="Arial"/>
              <a:buChar char="•"/>
            </a:pPr>
            <a:r>
              <a:rPr lang="en-US" b="true" sz="2700">
                <a:solidFill>
                  <a:srgbClr val="111315"/>
                </a:solidFill>
                <a:latin typeface="Raleway Bold"/>
                <a:ea typeface="Raleway Bold"/>
                <a:cs typeface="Raleway Bold"/>
                <a:sym typeface="Raleway Bold"/>
              </a:rPr>
              <a:t>Logistic Regression</a:t>
            </a:r>
            <a:r>
              <a:rPr lang="en-US" sz="2700">
                <a:solidFill>
                  <a:srgbClr val="111315"/>
                </a:solidFill>
                <a:latin typeface="Raleway"/>
                <a:ea typeface="Raleway"/>
                <a:cs typeface="Raleway"/>
                <a:sym typeface="Raleway"/>
              </a:rPr>
              <a:t> is a supervised machine-learning algorithm used for </a:t>
            </a:r>
            <a:r>
              <a:rPr lang="en-US" b="true" sz="2700">
                <a:solidFill>
                  <a:srgbClr val="111315"/>
                </a:solidFill>
                <a:latin typeface="Raleway Bold"/>
                <a:ea typeface="Raleway Bold"/>
                <a:cs typeface="Raleway Bold"/>
                <a:sym typeface="Raleway Bold"/>
              </a:rPr>
              <a:t>binary classification</a:t>
            </a:r>
            <a:r>
              <a:rPr lang="en-US" sz="2700">
                <a:solidFill>
                  <a:srgbClr val="111315"/>
                </a:solidFill>
                <a:latin typeface="Raleway"/>
                <a:ea typeface="Raleway"/>
                <a:cs typeface="Raleway"/>
                <a:sym typeface="Raleway"/>
              </a:rPr>
              <a:t>. In our project, it is used to predict whether a given URL is </a:t>
            </a:r>
            <a:r>
              <a:rPr lang="en-US" b="true" sz="2700">
                <a:solidFill>
                  <a:srgbClr val="111315"/>
                </a:solidFill>
                <a:latin typeface="Raleway Bold"/>
                <a:ea typeface="Raleway Bold"/>
                <a:cs typeface="Raleway Bold"/>
                <a:sym typeface="Raleway Bold"/>
              </a:rPr>
              <a:t>legitimate (0) or phishing (1)</a:t>
            </a:r>
            <a:r>
              <a:rPr lang="en-US" sz="2700">
                <a:solidFill>
                  <a:srgbClr val="111315"/>
                </a:solidFill>
                <a:latin typeface="Raleway"/>
                <a:ea typeface="Raleway"/>
                <a:cs typeface="Raleway"/>
                <a:sym typeface="Raleway"/>
              </a:rPr>
              <a:t> based on URL-related features such as URL length, path length, HTTPS status, special characters, and suspicious words.</a:t>
            </a:r>
          </a:p>
          <a:p>
            <a:pPr algn="l" marL="488632" indent="-244316" lvl="1">
              <a:lnSpc>
                <a:spcPts val="4212"/>
              </a:lnSpc>
              <a:buFont typeface="Arial"/>
              <a:buChar char="•"/>
            </a:pPr>
            <a:r>
              <a:rPr lang="en-US" sz="2700">
                <a:solidFill>
                  <a:srgbClr val="111315"/>
                </a:solidFill>
                <a:latin typeface="Raleway"/>
                <a:ea typeface="Raleway"/>
                <a:cs typeface="Raleway"/>
                <a:sym typeface="Raleway"/>
              </a:rPr>
              <a:t>The model calculates the </a:t>
            </a:r>
            <a:r>
              <a:rPr lang="en-US" b="true" sz="2700">
                <a:solidFill>
                  <a:srgbClr val="111315"/>
                </a:solidFill>
                <a:latin typeface="Raleway Bold"/>
                <a:ea typeface="Raleway Bold"/>
                <a:cs typeface="Raleway Bold"/>
                <a:sym typeface="Raleway Bold"/>
              </a:rPr>
              <a:t>probability</a:t>
            </a:r>
            <a:r>
              <a:rPr lang="en-US" sz="2700">
                <a:solidFill>
                  <a:srgbClr val="111315"/>
                </a:solidFill>
                <a:latin typeface="Raleway"/>
                <a:ea typeface="Raleway"/>
                <a:cs typeface="Raleway"/>
                <a:sym typeface="Raleway"/>
              </a:rPr>
              <a:t> of a URL belonging to the phishing class and then assigns it to one of the two classes based on a classification threshold. Logistic Regression is suitable for our project because it is </a:t>
            </a:r>
            <a:r>
              <a:rPr lang="en-US" b="true" sz="2700">
                <a:solidFill>
                  <a:srgbClr val="111315"/>
                </a:solidFill>
                <a:latin typeface="Raleway Bold"/>
                <a:ea typeface="Raleway Bold"/>
                <a:cs typeface="Raleway Bold"/>
                <a:sym typeface="Raleway Bold"/>
              </a:rPr>
              <a:t>simple, efficient, and interpretable</a:t>
            </a:r>
            <a:r>
              <a:rPr lang="en-US" sz="2700">
                <a:solidFill>
                  <a:srgbClr val="111315"/>
                </a:solidFill>
                <a:latin typeface="Raleway"/>
                <a:ea typeface="Raleway"/>
                <a:cs typeface="Raleway"/>
                <a:sym typeface="Raleway"/>
              </a:rPr>
              <a:t>, and it provides a strong baseline for comparing the effects of </a:t>
            </a:r>
            <a:r>
              <a:rPr lang="en-US" b="true" sz="2700">
                <a:solidFill>
                  <a:srgbClr val="111315"/>
                </a:solidFill>
                <a:latin typeface="Raleway Bold"/>
                <a:ea typeface="Raleway Bold"/>
                <a:cs typeface="Raleway Bold"/>
                <a:sym typeface="Raleway Bold"/>
              </a:rPr>
              <a:t>Ridge and Lasso regularisation</a:t>
            </a:r>
            <a:r>
              <a:rPr lang="en-US" sz="2700">
                <a:solidFill>
                  <a:srgbClr val="111315"/>
                </a:solidFill>
                <a:latin typeface="Raleway"/>
                <a:ea typeface="Raleway"/>
                <a:cs typeface="Raleway"/>
                <a:sym typeface="Raleway"/>
              </a:rPr>
              <a:t>.</a:t>
            </a:r>
          </a:p>
          <a:p>
            <a:pPr algn="l" marL="488632" indent="-244316" lvl="1">
              <a:lnSpc>
                <a:spcPts val="4212"/>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71011" y="813559"/>
            <a:ext cx="16795690" cy="1061580"/>
            <a:chOff x="0" y="0"/>
            <a:chExt cx="22394253" cy="1415440"/>
          </a:xfrm>
        </p:grpSpPr>
        <p:sp>
          <p:nvSpPr>
            <p:cNvPr name="Freeform 7" id="7"/>
            <p:cNvSpPr/>
            <p:nvPr/>
          </p:nvSpPr>
          <p:spPr>
            <a:xfrm flipH="false" flipV="false" rot="0">
              <a:off x="0" y="0"/>
              <a:ext cx="22394256" cy="1415446"/>
            </a:xfrm>
            <a:custGeom>
              <a:avLst/>
              <a:gdLst/>
              <a:ahLst/>
              <a:cxnLst/>
              <a:rect r="r" b="b" t="t" l="l"/>
              <a:pathLst>
                <a:path h="1415446" w="22394256">
                  <a:moveTo>
                    <a:pt x="0" y="0"/>
                  </a:moveTo>
                  <a:lnTo>
                    <a:pt x="22394256" y="0"/>
                  </a:lnTo>
                  <a:lnTo>
                    <a:pt x="22394256" y="1415446"/>
                  </a:lnTo>
                  <a:lnTo>
                    <a:pt x="0" y="1415446"/>
                  </a:lnTo>
                  <a:close/>
                </a:path>
              </a:pathLst>
            </a:custGeom>
            <a:blipFill>
              <a:blip r:embed="rId2">
                <a:alphaModFix amt="0"/>
              </a:blip>
              <a:stretch>
                <a:fillRect l="0" t="-258279" r="0" b="-258279"/>
              </a:stretch>
            </a:blipFill>
          </p:spPr>
        </p:sp>
        <p:sp>
          <p:nvSpPr>
            <p:cNvPr name="TextBox 8" id="8"/>
            <p:cNvSpPr txBox="true"/>
            <p:nvPr/>
          </p:nvSpPr>
          <p:spPr>
            <a:xfrm>
              <a:off x="0" y="-76200"/>
              <a:ext cx="22394253" cy="1491640"/>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Ridge &amp; Lasso Regularisation</a:t>
              </a:r>
            </a:p>
          </p:txBody>
        </p:sp>
      </p:grpSp>
      <p:sp>
        <p:nvSpPr>
          <p:cNvPr name="TextBox 9" id="9"/>
          <p:cNvSpPr txBox="true"/>
          <p:nvPr/>
        </p:nvSpPr>
        <p:spPr>
          <a:xfrm rot="0">
            <a:off x="862451" y="2494597"/>
            <a:ext cx="16612810" cy="6146483"/>
          </a:xfrm>
          <a:prstGeom prst="rect">
            <a:avLst/>
          </a:prstGeom>
        </p:spPr>
        <p:txBody>
          <a:bodyPr anchor="t" rtlCol="false" tIns="0" lIns="0" bIns="0" rIns="0">
            <a:spAutoFit/>
          </a:bodyPr>
          <a:lstStyle/>
          <a:p>
            <a:pPr algn="l">
              <a:lnSpc>
                <a:spcPts val="4212"/>
              </a:lnSpc>
            </a:pPr>
            <a:r>
              <a:rPr lang="en-US" sz="2700" b="true">
                <a:solidFill>
                  <a:srgbClr val="111315"/>
                </a:solidFill>
                <a:latin typeface="Raleway Bold"/>
                <a:ea typeface="Raleway Bold"/>
                <a:cs typeface="Raleway Bold"/>
                <a:sym typeface="Raleway Bold"/>
              </a:rPr>
              <a:t>Ridge and Lasso regularisation</a:t>
            </a:r>
            <a:r>
              <a:rPr lang="en-US" sz="2700">
                <a:solidFill>
                  <a:srgbClr val="111315"/>
                </a:solidFill>
                <a:latin typeface="Raleway"/>
                <a:ea typeface="Raleway"/>
                <a:cs typeface="Raleway"/>
                <a:sym typeface="Raleway"/>
              </a:rPr>
              <a:t> are techniques used with Logistic Regression to </a:t>
            </a:r>
            <a:r>
              <a:rPr lang="en-US" sz="2700" b="true">
                <a:solidFill>
                  <a:srgbClr val="111315"/>
                </a:solidFill>
                <a:latin typeface="Raleway Bold"/>
                <a:ea typeface="Raleway Bold"/>
                <a:cs typeface="Raleway Bold"/>
                <a:sym typeface="Raleway Bold"/>
              </a:rPr>
              <a:t>control model complexity and reduce overfitting</a:t>
            </a:r>
            <a:r>
              <a:rPr lang="en-US" sz="2700">
                <a:solidFill>
                  <a:srgbClr val="111315"/>
                </a:solidFill>
                <a:latin typeface="Raleway"/>
                <a:ea typeface="Raleway"/>
                <a:cs typeface="Raleway"/>
                <a:sym typeface="Raleway"/>
              </a:rPr>
              <a:t>.</a:t>
            </a:r>
          </a:p>
          <a:p>
            <a:pPr algn="l">
              <a:lnSpc>
                <a:spcPts val="4212"/>
              </a:lnSpc>
            </a:pPr>
            <a:r>
              <a:rPr lang="en-US" sz="2700" b="true">
                <a:solidFill>
                  <a:srgbClr val="111315"/>
                </a:solidFill>
                <a:latin typeface="Raleway Bold"/>
                <a:ea typeface="Raleway Bold"/>
                <a:cs typeface="Raleway Bold"/>
                <a:sym typeface="Raleway Bold"/>
              </a:rPr>
              <a:t>Ridge (L2) regularisation</a:t>
            </a:r>
            <a:r>
              <a:rPr lang="en-US" sz="2700">
                <a:solidFill>
                  <a:srgbClr val="111315"/>
                </a:solidFill>
                <a:latin typeface="Raleway"/>
                <a:ea typeface="Raleway"/>
                <a:cs typeface="Raleway"/>
                <a:sym typeface="Raleway"/>
              </a:rPr>
              <a:t> adds a penalty based on the </a:t>
            </a:r>
            <a:r>
              <a:rPr lang="en-US" sz="2700" b="true">
                <a:solidFill>
                  <a:srgbClr val="111315"/>
                </a:solidFill>
                <a:latin typeface="Raleway Bold"/>
                <a:ea typeface="Raleway Bold"/>
                <a:cs typeface="Raleway Bold"/>
                <a:sym typeface="Raleway Bold"/>
              </a:rPr>
              <a:t>squared values of the model coefficients</a:t>
            </a:r>
            <a:r>
              <a:rPr lang="en-US" sz="2700">
                <a:solidFill>
                  <a:srgbClr val="111315"/>
                </a:solidFill>
                <a:latin typeface="Raleway"/>
                <a:ea typeface="Raleway"/>
                <a:cs typeface="Raleway"/>
                <a:sym typeface="Raleway"/>
              </a:rPr>
              <a:t>, encouraging the coefficients to remain small.</a:t>
            </a:r>
          </a:p>
          <a:p>
            <a:pPr algn="l">
              <a:lnSpc>
                <a:spcPts val="4212"/>
              </a:lnSpc>
            </a:pPr>
            <a:r>
              <a:rPr lang="en-US" sz="2700" b="true">
                <a:solidFill>
                  <a:srgbClr val="111315"/>
                </a:solidFill>
                <a:latin typeface="Raleway Bold"/>
                <a:ea typeface="Raleway Bold"/>
                <a:cs typeface="Raleway Bold"/>
                <a:sym typeface="Raleway Bold"/>
              </a:rPr>
              <a:t>Lasso (L1) regularisation</a:t>
            </a:r>
            <a:r>
              <a:rPr lang="en-US" sz="2700">
                <a:solidFill>
                  <a:srgbClr val="111315"/>
                </a:solidFill>
                <a:latin typeface="Raleway"/>
                <a:ea typeface="Raleway"/>
                <a:cs typeface="Raleway"/>
                <a:sym typeface="Raleway"/>
              </a:rPr>
              <a:t> adds a penalty based on the </a:t>
            </a:r>
            <a:r>
              <a:rPr lang="en-US" sz="2700" b="true">
                <a:solidFill>
                  <a:srgbClr val="111315"/>
                </a:solidFill>
                <a:latin typeface="Raleway Bold"/>
                <a:ea typeface="Raleway Bold"/>
                <a:cs typeface="Raleway Bold"/>
                <a:sym typeface="Raleway Bold"/>
              </a:rPr>
              <a:t>absolute values of the coefficients</a:t>
            </a:r>
            <a:r>
              <a:rPr lang="en-US" sz="2700">
                <a:solidFill>
                  <a:srgbClr val="111315"/>
                </a:solidFill>
                <a:latin typeface="Raleway"/>
                <a:ea typeface="Raleway"/>
                <a:cs typeface="Raleway"/>
                <a:sym typeface="Raleway"/>
              </a:rPr>
              <a:t> and can reduce some coefficients to zero, which helps with </a:t>
            </a:r>
            <a:r>
              <a:rPr lang="en-US" sz="2700" b="true">
                <a:solidFill>
                  <a:srgbClr val="111315"/>
                </a:solidFill>
                <a:latin typeface="Raleway Bold"/>
                <a:ea typeface="Raleway Bold"/>
                <a:cs typeface="Raleway Bold"/>
                <a:sym typeface="Raleway Bold"/>
              </a:rPr>
              <a:t>feature selection</a:t>
            </a:r>
            <a:r>
              <a:rPr lang="en-US" sz="2700">
                <a:solidFill>
                  <a:srgbClr val="111315"/>
                </a:solidFill>
                <a:latin typeface="Raleway"/>
                <a:ea typeface="Raleway"/>
                <a:cs typeface="Raleway"/>
                <a:sym typeface="Raleway"/>
              </a:rPr>
              <a:t>.</a:t>
            </a:r>
          </a:p>
          <a:p>
            <a:pPr algn="l">
              <a:lnSpc>
                <a:spcPts val="4212"/>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71011" y="660016"/>
            <a:ext cx="16795690" cy="1624555"/>
            <a:chOff x="0" y="0"/>
            <a:chExt cx="22394253" cy="2166074"/>
          </a:xfrm>
        </p:grpSpPr>
        <p:sp>
          <p:nvSpPr>
            <p:cNvPr name="Freeform 7" id="7"/>
            <p:cNvSpPr/>
            <p:nvPr/>
          </p:nvSpPr>
          <p:spPr>
            <a:xfrm flipH="false" flipV="false" rot="0">
              <a:off x="0" y="0"/>
              <a:ext cx="22394256" cy="2166072"/>
            </a:xfrm>
            <a:custGeom>
              <a:avLst/>
              <a:gdLst/>
              <a:ahLst/>
              <a:cxnLst/>
              <a:rect r="r" b="b" t="t" l="l"/>
              <a:pathLst>
                <a:path h="2166072" w="22394256">
                  <a:moveTo>
                    <a:pt x="0" y="0"/>
                  </a:moveTo>
                  <a:lnTo>
                    <a:pt x="22394256" y="0"/>
                  </a:lnTo>
                  <a:lnTo>
                    <a:pt x="22394256" y="2166072"/>
                  </a:lnTo>
                  <a:lnTo>
                    <a:pt x="0" y="2166072"/>
                  </a:lnTo>
                  <a:close/>
                </a:path>
              </a:pathLst>
            </a:custGeom>
            <a:blipFill>
              <a:blip r:embed="rId2">
                <a:alphaModFix amt="0"/>
              </a:blip>
              <a:stretch>
                <a:fillRect l="0" t="-151448" r="0" b="-151448"/>
              </a:stretch>
            </a:blipFill>
          </p:spPr>
        </p:sp>
        <p:sp>
          <p:nvSpPr>
            <p:cNvPr name="TextBox 8" id="8"/>
            <p:cNvSpPr txBox="true"/>
            <p:nvPr/>
          </p:nvSpPr>
          <p:spPr>
            <a:xfrm>
              <a:off x="0" y="-76200"/>
              <a:ext cx="22394253" cy="2242274"/>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Research Papers &amp; Related Work</a:t>
              </a:r>
            </a:p>
          </p:txBody>
        </p:sp>
      </p:grpSp>
      <p:sp>
        <p:nvSpPr>
          <p:cNvPr name="TextBox 9" id="9"/>
          <p:cNvSpPr txBox="true"/>
          <p:nvPr/>
        </p:nvSpPr>
        <p:spPr>
          <a:xfrm rot="0">
            <a:off x="2858807" y="2493609"/>
            <a:ext cx="16271615" cy="2114931"/>
          </a:xfrm>
          <a:prstGeom prst="rect">
            <a:avLst/>
          </a:prstGeom>
        </p:spPr>
        <p:txBody>
          <a:bodyPr anchor="t" rtlCol="false" tIns="0" lIns="0" bIns="0" rIns="0">
            <a:spAutoFit/>
          </a:bodyPr>
          <a:lstStyle/>
          <a:p>
            <a:pPr algn="l">
              <a:lnSpc>
                <a:spcPts val="4212"/>
              </a:lnSpc>
            </a:pPr>
            <a:r>
              <a:rPr lang="en-US" sz="2700" b="true">
                <a:solidFill>
                  <a:srgbClr val="111315"/>
                </a:solidFill>
                <a:latin typeface="Raleway Bold"/>
                <a:ea typeface="Raleway Bold"/>
                <a:cs typeface="Raleway Bold"/>
                <a:sym typeface="Raleway Bold"/>
              </a:rPr>
              <a:t>We have the research papers in the form of the pdf's BELOW:</a:t>
            </a:r>
          </a:p>
          <a:p>
            <a:pPr algn="l">
              <a:lnSpc>
                <a:spcPts val="4212"/>
              </a:lnSpc>
            </a:pPr>
          </a:p>
          <a:p>
            <a:pPr algn="l">
              <a:lnSpc>
                <a:spcPts val="4212"/>
              </a:lnSpc>
            </a:pPr>
          </a:p>
          <a:p>
            <a:pPr algn="l">
              <a:lnSpc>
                <a:spcPts val="4212"/>
              </a:lnSpc>
            </a:pPr>
          </a:p>
        </p:txBody>
      </p:sp>
      <p:sp>
        <p:nvSpPr>
          <p:cNvPr name="TextBox 10" id="10"/>
          <p:cNvSpPr txBox="true"/>
          <p:nvPr/>
        </p:nvSpPr>
        <p:spPr>
          <a:xfrm rot="0">
            <a:off x="1713421" y="4694111"/>
            <a:ext cx="13029456" cy="366521"/>
          </a:xfrm>
          <a:prstGeom prst="rect">
            <a:avLst/>
          </a:prstGeom>
        </p:spPr>
        <p:txBody>
          <a:bodyPr anchor="t" rtlCol="false" tIns="0" lIns="0" bIns="0" rIns="0">
            <a:spAutoFit/>
          </a:bodyPr>
          <a:lstStyle/>
          <a:p>
            <a:pPr algn="just">
              <a:lnSpc>
                <a:spcPts val="2904"/>
              </a:lnSpc>
              <a:spcBef>
                <a:spcPct val="0"/>
              </a:spcBef>
            </a:pPr>
            <a:r>
              <a:rPr lang="en-US" sz="2200" u="sng">
                <a:solidFill>
                  <a:srgbClr val="000000"/>
                </a:solidFill>
                <a:latin typeface="Raleway"/>
                <a:ea typeface="Raleway"/>
                <a:cs typeface="Raleway"/>
                <a:sym typeface="Raleway"/>
                <a:hlinkClick r:id="rId3" tooltip="https://drive.google.com/file/d/15sLhWJ8YCyUJ1E0x9UBlHQEmsA4RkMPQ/view?usp=sharing"/>
              </a:rPr>
              <a:t>https://drive.google.com/file/d/15sLhWJ8YCyUJ1E0x9UBlHQEmsA4RkMPQ/view?usp=sharingh text</a:t>
            </a:r>
          </a:p>
        </p:txBody>
      </p:sp>
      <p:sp>
        <p:nvSpPr>
          <p:cNvPr name="TextBox 11" id="11"/>
          <p:cNvSpPr txBox="true"/>
          <p:nvPr/>
        </p:nvSpPr>
        <p:spPr>
          <a:xfrm rot="0">
            <a:off x="2858467" y="5674155"/>
            <a:ext cx="12904589" cy="384047"/>
          </a:xfrm>
          <a:prstGeom prst="rect">
            <a:avLst/>
          </a:prstGeom>
        </p:spPr>
        <p:txBody>
          <a:bodyPr anchor="t" rtlCol="false" tIns="0" lIns="0" bIns="0" rIns="0">
            <a:spAutoFit/>
          </a:bodyPr>
          <a:lstStyle/>
          <a:p>
            <a:pPr algn="ctr">
              <a:lnSpc>
                <a:spcPts val="3036"/>
              </a:lnSpc>
              <a:spcBef>
                <a:spcPct val="0"/>
              </a:spcBef>
            </a:pPr>
            <a:r>
              <a:rPr lang="en-US" sz="2300" u="sng">
                <a:solidFill>
                  <a:srgbClr val="000000"/>
                </a:solidFill>
                <a:latin typeface="Raleway"/>
                <a:ea typeface="Raleway"/>
                <a:cs typeface="Raleway"/>
                <a:sym typeface="Raleway"/>
                <a:hlinkClick r:id="rId4" tooltip="https://drive.google.com/file/d/1UOdz7lO1bWQxkDIO9N65J0NW6CPq8F7L/view?usp=sharing"/>
              </a:rPr>
              <a:t>https://drive.google.com/file/d/1UOdz7lO1bWQxkDIO9N65J0NW6CPq8F7L/view?usp=sharing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71011" y="694134"/>
            <a:ext cx="16795690" cy="1061580"/>
            <a:chOff x="0" y="0"/>
            <a:chExt cx="22394253" cy="1415440"/>
          </a:xfrm>
        </p:grpSpPr>
        <p:sp>
          <p:nvSpPr>
            <p:cNvPr name="Freeform 7" id="7"/>
            <p:cNvSpPr/>
            <p:nvPr/>
          </p:nvSpPr>
          <p:spPr>
            <a:xfrm flipH="false" flipV="false" rot="0">
              <a:off x="0" y="0"/>
              <a:ext cx="22394256" cy="1415446"/>
            </a:xfrm>
            <a:custGeom>
              <a:avLst/>
              <a:gdLst/>
              <a:ahLst/>
              <a:cxnLst/>
              <a:rect r="r" b="b" t="t" l="l"/>
              <a:pathLst>
                <a:path h="1415446" w="22394256">
                  <a:moveTo>
                    <a:pt x="0" y="0"/>
                  </a:moveTo>
                  <a:lnTo>
                    <a:pt x="22394256" y="0"/>
                  </a:lnTo>
                  <a:lnTo>
                    <a:pt x="22394256" y="1415446"/>
                  </a:lnTo>
                  <a:lnTo>
                    <a:pt x="0" y="1415446"/>
                  </a:lnTo>
                  <a:close/>
                </a:path>
              </a:pathLst>
            </a:custGeom>
            <a:blipFill>
              <a:blip r:embed="rId2">
                <a:alphaModFix amt="0"/>
              </a:blip>
              <a:stretch>
                <a:fillRect l="0" t="-258279" r="0" b="-258279"/>
              </a:stretch>
            </a:blipFill>
          </p:spPr>
        </p:sp>
        <p:sp>
          <p:nvSpPr>
            <p:cNvPr name="TextBox 8" id="8"/>
            <p:cNvSpPr txBox="true"/>
            <p:nvPr/>
          </p:nvSpPr>
          <p:spPr>
            <a:xfrm>
              <a:off x="0" y="-76200"/>
              <a:ext cx="22394253" cy="1491640"/>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Model Evaluation Metrics</a:t>
              </a:r>
            </a:p>
          </p:txBody>
        </p:sp>
      </p:grpSp>
      <p:sp>
        <p:nvSpPr>
          <p:cNvPr name="TextBox 9" id="9"/>
          <p:cNvSpPr txBox="true"/>
          <p:nvPr/>
        </p:nvSpPr>
        <p:spPr>
          <a:xfrm rot="0">
            <a:off x="862451" y="2494597"/>
            <a:ext cx="16612810" cy="6146483"/>
          </a:xfrm>
          <a:prstGeom prst="rect">
            <a:avLst/>
          </a:prstGeom>
        </p:spPr>
        <p:txBody>
          <a:bodyPr anchor="t" rtlCol="false" tIns="0" lIns="0" bIns="0" rIns="0">
            <a:spAutoFit/>
          </a:bodyPr>
          <a:lstStyle/>
          <a:p>
            <a:pPr algn="l" marL="488632" indent="-244316" lvl="1">
              <a:lnSpc>
                <a:spcPts val="4212"/>
              </a:lnSpc>
              <a:buFont typeface="Arial"/>
              <a:buChar char="•"/>
            </a:pPr>
            <a:r>
              <a:rPr lang="en-US" sz="2700">
                <a:solidFill>
                  <a:srgbClr val="111315"/>
                </a:solidFill>
                <a:latin typeface="Raleway"/>
                <a:ea typeface="Raleway"/>
                <a:cs typeface="Raleway"/>
                <a:sym typeface="Raleway"/>
              </a:rPr>
              <a:t>Model evaluation metrics are used to </a:t>
            </a:r>
            <a:r>
              <a:rPr lang="en-US" b="true" sz="2700">
                <a:solidFill>
                  <a:srgbClr val="111315"/>
                </a:solidFill>
                <a:latin typeface="Raleway Bold"/>
                <a:ea typeface="Raleway Bold"/>
                <a:cs typeface="Raleway Bold"/>
                <a:sym typeface="Raleway Bold"/>
              </a:rPr>
              <a:t>measure and compare how accurately our Logistic Regression, Ridge, and Lasso models detect phishing URLs</a:t>
            </a:r>
            <a:r>
              <a:rPr lang="en-US" sz="2700">
                <a:solidFill>
                  <a:srgbClr val="111315"/>
                </a:solidFill>
                <a:latin typeface="Raleway"/>
                <a:ea typeface="Raleway"/>
                <a:cs typeface="Raleway"/>
                <a:sym typeface="Raleway"/>
              </a:rPr>
              <a:t>.</a:t>
            </a:r>
          </a:p>
          <a:p>
            <a:pPr algn="l" marL="488632" indent="-244316" lvl="1">
              <a:lnSpc>
                <a:spcPts val="4212"/>
              </a:lnSpc>
              <a:buFont typeface="Arial"/>
              <a:buChar char="•"/>
            </a:pPr>
            <a:r>
              <a:rPr lang="en-US" b="true" sz="2700">
                <a:solidFill>
                  <a:srgbClr val="111315"/>
                </a:solidFill>
                <a:latin typeface="Raleway Bold"/>
                <a:ea typeface="Raleway Bold"/>
                <a:cs typeface="Raleway Bold"/>
                <a:sym typeface="Raleway Bold"/>
              </a:rPr>
              <a:t>Accuracy:</a:t>
            </a:r>
            <a:r>
              <a:rPr lang="en-US" sz="2700">
                <a:solidFill>
                  <a:srgbClr val="111315"/>
                </a:solidFill>
                <a:latin typeface="Raleway"/>
                <a:ea typeface="Raleway"/>
                <a:cs typeface="Raleway"/>
                <a:sym typeface="Raleway"/>
              </a:rPr>
              <a:t> Measures the overall percentage of correctly classified URLs. </a:t>
            </a:r>
          </a:p>
          <a:p>
            <a:pPr algn="l" marL="488632" indent="-244316" lvl="1">
              <a:lnSpc>
                <a:spcPts val="4212"/>
              </a:lnSpc>
              <a:buFont typeface="Arial"/>
              <a:buChar char="•"/>
            </a:pPr>
            <a:r>
              <a:rPr lang="en-US" b="true" sz="2700">
                <a:solidFill>
                  <a:srgbClr val="111315"/>
                </a:solidFill>
                <a:latin typeface="Raleway Bold"/>
                <a:ea typeface="Raleway Bold"/>
                <a:cs typeface="Raleway Bold"/>
                <a:sym typeface="Raleway Bold"/>
              </a:rPr>
              <a:t>Precision:</a:t>
            </a:r>
            <a:r>
              <a:rPr lang="en-US" sz="2700">
                <a:solidFill>
                  <a:srgbClr val="111315"/>
                </a:solidFill>
                <a:latin typeface="Raleway"/>
                <a:ea typeface="Raleway"/>
                <a:cs typeface="Raleway"/>
                <a:sym typeface="Raleway"/>
              </a:rPr>
              <a:t> Measures how many URLs predicted as phishing are actually phishing. </a:t>
            </a:r>
          </a:p>
          <a:p>
            <a:pPr algn="l" marL="488632" indent="-244316" lvl="1">
              <a:lnSpc>
                <a:spcPts val="4212"/>
              </a:lnSpc>
              <a:buFont typeface="Arial"/>
              <a:buChar char="•"/>
            </a:pPr>
            <a:r>
              <a:rPr lang="en-US" b="true" sz="2700">
                <a:solidFill>
                  <a:srgbClr val="111315"/>
                </a:solidFill>
                <a:latin typeface="Raleway Bold"/>
                <a:ea typeface="Raleway Bold"/>
                <a:cs typeface="Raleway Bold"/>
                <a:sym typeface="Raleway Bold"/>
              </a:rPr>
              <a:t>Recall:</a:t>
            </a:r>
            <a:r>
              <a:rPr lang="en-US" sz="2700">
                <a:solidFill>
                  <a:srgbClr val="111315"/>
                </a:solidFill>
                <a:latin typeface="Raleway"/>
                <a:ea typeface="Raleway"/>
                <a:cs typeface="Raleway"/>
                <a:sym typeface="Raleway"/>
              </a:rPr>
              <a:t> Measures how many of the actual phishing URLs are correctly detected. </a:t>
            </a:r>
          </a:p>
          <a:p>
            <a:pPr algn="l" marL="488632" indent="-244316" lvl="1">
              <a:lnSpc>
                <a:spcPts val="4212"/>
              </a:lnSpc>
              <a:buFont typeface="Arial"/>
              <a:buChar char="•"/>
            </a:pPr>
            <a:r>
              <a:rPr lang="en-US" b="true" sz="2700">
                <a:solidFill>
                  <a:srgbClr val="111315"/>
                </a:solidFill>
                <a:latin typeface="Raleway Bold"/>
                <a:ea typeface="Raleway Bold"/>
                <a:cs typeface="Raleway Bold"/>
                <a:sym typeface="Raleway Bold"/>
              </a:rPr>
              <a:t>F1-Score:</a:t>
            </a:r>
            <a:r>
              <a:rPr lang="en-US" sz="2700">
                <a:solidFill>
                  <a:srgbClr val="111315"/>
                </a:solidFill>
                <a:latin typeface="Raleway"/>
                <a:ea typeface="Raleway"/>
                <a:cs typeface="Raleway"/>
                <a:sym typeface="Raleway"/>
              </a:rPr>
              <a:t> Provides a balance between precision and recall. </a:t>
            </a:r>
          </a:p>
          <a:p>
            <a:pPr algn="l" marL="488632" indent="-244316" lvl="1">
              <a:lnSpc>
                <a:spcPts val="4212"/>
              </a:lnSpc>
              <a:buFont typeface="Arial"/>
              <a:buChar char="•"/>
            </a:pPr>
            <a:r>
              <a:rPr lang="en-US" b="true" sz="2700">
                <a:solidFill>
                  <a:srgbClr val="111315"/>
                </a:solidFill>
                <a:latin typeface="Raleway Bold"/>
                <a:ea typeface="Raleway Bold"/>
                <a:cs typeface="Raleway Bold"/>
                <a:sym typeface="Raleway Bold"/>
              </a:rPr>
              <a:t>Confusion Matrix:</a:t>
            </a:r>
            <a:r>
              <a:rPr lang="en-US" sz="2700">
                <a:solidFill>
                  <a:srgbClr val="111315"/>
                </a:solidFill>
                <a:latin typeface="Raleway"/>
                <a:ea typeface="Raleway"/>
                <a:cs typeface="Raleway"/>
                <a:sym typeface="Raleway"/>
              </a:rPr>
              <a:t> Shows the numbers of </a:t>
            </a:r>
            <a:r>
              <a:rPr lang="en-US" b="true" sz="2700">
                <a:solidFill>
                  <a:srgbClr val="111315"/>
                </a:solidFill>
                <a:latin typeface="Raleway Bold"/>
                <a:ea typeface="Raleway Bold"/>
                <a:cs typeface="Raleway Bold"/>
                <a:sym typeface="Raleway Bold"/>
              </a:rPr>
              <a:t>true positives, true negatives, false positives, and false negatives</a:t>
            </a:r>
            <a:r>
              <a:rPr lang="en-US" sz="2700">
                <a:solidFill>
                  <a:srgbClr val="111315"/>
                </a:solidFill>
                <a:latin typeface="Raleway"/>
                <a:ea typeface="Raleway"/>
                <a:cs typeface="Raleway"/>
                <a:sym typeface="Raleway"/>
              </a:rPr>
              <a:t>.</a:t>
            </a:r>
          </a:p>
          <a:p>
            <a:pPr algn="l" marL="488632" indent="-244316" lvl="1">
              <a:lnSpc>
                <a:spcPts val="4212"/>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5099" y="9346301"/>
            <a:ext cx="11322901" cy="940699"/>
            <a:chOff x="0" y="0"/>
            <a:chExt cx="15097201" cy="1254265"/>
          </a:xfrm>
        </p:grpSpPr>
        <p:sp>
          <p:nvSpPr>
            <p:cNvPr name="Freeform 3" id="3"/>
            <p:cNvSpPr/>
            <p:nvPr/>
          </p:nvSpPr>
          <p:spPr>
            <a:xfrm flipH="false" flipV="false" rot="0">
              <a:off x="0" y="0"/>
              <a:ext cx="15097252" cy="1254252"/>
            </a:xfrm>
            <a:custGeom>
              <a:avLst/>
              <a:gdLst/>
              <a:ahLst/>
              <a:cxnLst/>
              <a:rect r="r" b="b" t="t" l="l"/>
              <a:pathLst>
                <a:path h="1254252" w="15097252">
                  <a:moveTo>
                    <a:pt x="15097252" y="0"/>
                  </a:moveTo>
                  <a:lnTo>
                    <a:pt x="15097252" y="1254252"/>
                  </a:lnTo>
                  <a:lnTo>
                    <a:pt x="106426" y="1254252"/>
                  </a:lnTo>
                  <a:lnTo>
                    <a:pt x="78994" y="1164463"/>
                  </a:lnTo>
                  <a:cubicBezTo>
                    <a:pt x="10541" y="837438"/>
                    <a:pt x="31115" y="147447"/>
                    <a:pt x="0" y="4318"/>
                  </a:cubicBezTo>
                  <a:close/>
                </a:path>
              </a:pathLst>
            </a:custGeom>
            <a:solidFill>
              <a:srgbClr val="ECEFEC"/>
            </a:solidFill>
          </p:spPr>
        </p:sp>
      </p:grpSp>
      <p:grpSp>
        <p:nvGrpSpPr>
          <p:cNvPr name="Group 4" id="4"/>
          <p:cNvGrpSpPr/>
          <p:nvPr/>
        </p:nvGrpSpPr>
        <p:grpSpPr>
          <a:xfrm rot="5400000">
            <a:off x="3012196" y="6334096"/>
            <a:ext cx="940699" cy="6965099"/>
            <a:chOff x="0" y="0"/>
            <a:chExt cx="1254265" cy="9286799"/>
          </a:xfrm>
        </p:grpSpPr>
        <p:sp>
          <p:nvSpPr>
            <p:cNvPr name="Freeform 5" id="5"/>
            <p:cNvSpPr/>
            <p:nvPr/>
          </p:nvSpPr>
          <p:spPr>
            <a:xfrm flipH="false" flipV="false" rot="0">
              <a:off x="-20" y="0"/>
              <a:ext cx="1254272" cy="9286748"/>
            </a:xfrm>
            <a:custGeom>
              <a:avLst/>
              <a:gdLst/>
              <a:ahLst/>
              <a:cxnLst/>
              <a:rect r="r" b="b" t="t" l="l"/>
              <a:pathLst>
                <a:path h="9286748" w="1254272">
                  <a:moveTo>
                    <a:pt x="14625" y="5715"/>
                  </a:moveTo>
                  <a:lnTo>
                    <a:pt x="1254272" y="0"/>
                  </a:lnTo>
                  <a:lnTo>
                    <a:pt x="1254272" y="9286748"/>
                  </a:lnTo>
                  <a:lnTo>
                    <a:pt x="1798" y="9286748"/>
                  </a:lnTo>
                  <a:cubicBezTo>
                    <a:pt x="-7727" y="6193155"/>
                    <a:pt x="24150" y="3099435"/>
                    <a:pt x="14625" y="5715"/>
                  </a:cubicBezTo>
                  <a:close/>
                </a:path>
              </a:pathLst>
            </a:custGeom>
            <a:solidFill>
              <a:srgbClr val="D8DFD8"/>
            </a:solidFill>
          </p:spPr>
        </p:sp>
      </p:grpSp>
      <p:grpSp>
        <p:nvGrpSpPr>
          <p:cNvPr name="Group 6" id="6"/>
          <p:cNvGrpSpPr/>
          <p:nvPr/>
        </p:nvGrpSpPr>
        <p:grpSpPr>
          <a:xfrm rot="0">
            <a:off x="771011" y="199406"/>
            <a:ext cx="16795690" cy="1624555"/>
            <a:chOff x="0" y="0"/>
            <a:chExt cx="22394253" cy="2166074"/>
          </a:xfrm>
        </p:grpSpPr>
        <p:sp>
          <p:nvSpPr>
            <p:cNvPr name="Freeform 7" id="7"/>
            <p:cNvSpPr/>
            <p:nvPr/>
          </p:nvSpPr>
          <p:spPr>
            <a:xfrm flipH="false" flipV="false" rot="0">
              <a:off x="0" y="0"/>
              <a:ext cx="22394256" cy="2166072"/>
            </a:xfrm>
            <a:custGeom>
              <a:avLst/>
              <a:gdLst/>
              <a:ahLst/>
              <a:cxnLst/>
              <a:rect r="r" b="b" t="t" l="l"/>
              <a:pathLst>
                <a:path h="2166072" w="22394256">
                  <a:moveTo>
                    <a:pt x="0" y="0"/>
                  </a:moveTo>
                  <a:lnTo>
                    <a:pt x="22394256" y="0"/>
                  </a:lnTo>
                  <a:lnTo>
                    <a:pt x="22394256" y="2166072"/>
                  </a:lnTo>
                  <a:lnTo>
                    <a:pt x="0" y="2166072"/>
                  </a:lnTo>
                  <a:close/>
                </a:path>
              </a:pathLst>
            </a:custGeom>
            <a:blipFill>
              <a:blip r:embed="rId2">
                <a:alphaModFix amt="0"/>
              </a:blip>
              <a:stretch>
                <a:fillRect l="0" t="-151448" r="0" b="-151448"/>
              </a:stretch>
            </a:blipFill>
          </p:spPr>
        </p:sp>
        <p:sp>
          <p:nvSpPr>
            <p:cNvPr name="TextBox 8" id="8"/>
            <p:cNvSpPr txBox="true"/>
            <p:nvPr/>
          </p:nvSpPr>
          <p:spPr>
            <a:xfrm>
              <a:off x="0" y="-76200"/>
              <a:ext cx="22394253" cy="2242274"/>
            </a:xfrm>
            <a:prstGeom prst="rect">
              <a:avLst/>
            </a:prstGeom>
          </p:spPr>
          <p:txBody>
            <a:bodyPr anchor="b" rtlCol="false" tIns="0" lIns="0" bIns="0" rIns="0"/>
            <a:lstStyle/>
            <a:p>
              <a:pPr algn="ctr">
                <a:lnSpc>
                  <a:spcPts val="7128"/>
                </a:lnSpc>
              </a:pPr>
              <a:r>
                <a:rPr lang="en-US" sz="5400" b="true">
                  <a:solidFill>
                    <a:srgbClr val="435A57"/>
                  </a:solidFill>
                  <a:latin typeface="Raleway Bold"/>
                  <a:ea typeface="Raleway Bold"/>
                  <a:cs typeface="Raleway Bold"/>
                  <a:sym typeface="Raleway Bold"/>
                </a:rPr>
                <a:t>FUTURE SCOPE</a:t>
              </a:r>
            </a:p>
          </p:txBody>
        </p:sp>
      </p:grpSp>
      <p:sp>
        <p:nvSpPr>
          <p:cNvPr name="TextBox 9" id="9"/>
          <p:cNvSpPr txBox="true"/>
          <p:nvPr/>
        </p:nvSpPr>
        <p:spPr>
          <a:xfrm rot="0">
            <a:off x="862451" y="2494597"/>
            <a:ext cx="16612810" cy="6146483"/>
          </a:xfrm>
          <a:prstGeom prst="rect">
            <a:avLst/>
          </a:prstGeom>
        </p:spPr>
        <p:txBody>
          <a:bodyPr anchor="t" rtlCol="false" tIns="0" lIns="0" bIns="0" rIns="0">
            <a:spAutoFit/>
          </a:bodyPr>
          <a:lstStyle/>
          <a:p>
            <a:pPr algn="l" marL="488632" indent="-244316" lvl="1">
              <a:lnSpc>
                <a:spcPts val="4212"/>
              </a:lnSpc>
              <a:buFont typeface="Arial"/>
              <a:buChar char="•"/>
            </a:pPr>
            <a:r>
              <a:rPr lang="en-US" sz="2700">
                <a:solidFill>
                  <a:srgbClr val="111315"/>
                </a:solidFill>
                <a:latin typeface="Raleway"/>
                <a:ea typeface="Raleway"/>
                <a:cs typeface="Raleway"/>
                <a:sym typeface="Raleway"/>
              </a:rPr>
              <a:t>The future scope of our project is to improve the phishing URL detection system and make it more practical for real-world use. The trained model can be </a:t>
            </a:r>
            <a:r>
              <a:rPr lang="en-US" b="true" sz="2700">
                <a:solidFill>
                  <a:srgbClr val="111315"/>
                </a:solidFill>
                <a:latin typeface="Raleway Bold"/>
                <a:ea typeface="Raleway Bold"/>
                <a:cs typeface="Raleway Bold"/>
                <a:sym typeface="Raleway Bold"/>
              </a:rPr>
              <a:t>deployed as a web application or REST API</a:t>
            </a:r>
            <a:r>
              <a:rPr lang="en-US" sz="2700">
                <a:solidFill>
                  <a:srgbClr val="111315"/>
                </a:solidFill>
                <a:latin typeface="Raleway"/>
                <a:ea typeface="Raleway"/>
                <a:cs typeface="Raleway"/>
                <a:sym typeface="Raleway"/>
              </a:rPr>
              <a:t> where users can enter a URL and receive an immediate prediction. The system can also be improved by using </a:t>
            </a:r>
            <a:r>
              <a:rPr lang="en-US" b="true" sz="2700">
                <a:solidFill>
                  <a:srgbClr val="111315"/>
                </a:solidFill>
                <a:latin typeface="Raleway Bold"/>
                <a:ea typeface="Raleway Bold"/>
                <a:cs typeface="Raleway Bold"/>
                <a:sym typeface="Raleway Bold"/>
              </a:rPr>
              <a:t>larger and continuously updated datasets</a:t>
            </a:r>
            <a:r>
              <a:rPr lang="en-US" sz="2700">
                <a:solidFill>
                  <a:srgbClr val="111315"/>
                </a:solidFill>
                <a:latin typeface="Raleway"/>
                <a:ea typeface="Raleway"/>
                <a:cs typeface="Raleway"/>
                <a:sym typeface="Raleway"/>
              </a:rPr>
              <a:t>, adding more advanced URL and website features, and comparing the proposed models with other machine-learning techniques. In the future, the model can also be </a:t>
            </a:r>
            <a:r>
              <a:rPr lang="en-US" b="true" sz="2700">
                <a:solidFill>
                  <a:srgbClr val="111315"/>
                </a:solidFill>
                <a:latin typeface="Raleway Bold"/>
                <a:ea typeface="Raleway Bold"/>
                <a:cs typeface="Raleway Bold"/>
                <a:sym typeface="Raleway Bold"/>
              </a:rPr>
              <a:t>monitored and retrained regularly</a:t>
            </a:r>
            <a:r>
              <a:rPr lang="en-US" sz="2700">
                <a:solidFill>
                  <a:srgbClr val="111315"/>
                </a:solidFill>
                <a:latin typeface="Raleway"/>
                <a:ea typeface="Raleway"/>
                <a:cs typeface="Raleway"/>
                <a:sym typeface="Raleway"/>
              </a:rPr>
              <a:t> to adapt to new phishing patterns.</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934184" y="4652772"/>
            <a:ext cx="9963141" cy="914781"/>
          </a:xfrm>
          <a:prstGeom prst="rect">
            <a:avLst/>
          </a:prstGeom>
        </p:spPr>
        <p:txBody>
          <a:bodyPr anchor="t" rtlCol="false" tIns="0" lIns="0" bIns="0" rIns="0">
            <a:spAutoFit/>
          </a:bodyPr>
          <a:lstStyle/>
          <a:p>
            <a:pPr algn="ctr">
              <a:lnSpc>
                <a:spcPts val="7391"/>
              </a:lnSpc>
              <a:spcBef>
                <a:spcPct val="0"/>
              </a:spcBef>
            </a:pPr>
            <a:r>
              <a:rPr lang="en-US" b="true" sz="5599">
                <a:solidFill>
                  <a:srgbClr val="435A57"/>
                </a:solidFill>
                <a:latin typeface="Raleway Bold"/>
                <a:ea typeface="Raleway Bold"/>
                <a:cs typeface="Raleway Bold"/>
                <a:sym typeface="Raleway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DAHToyRO5UY</dc:identifier>
  <dcterms:modified xsi:type="dcterms:W3CDTF">2011-08-01T06:04:30Z</dcterms:modified>
  <cp:revision>1</cp:revision>
  <dc:title>Presentation 11.pptx</dc:title>
</cp:coreProperties>
</file>